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Merriweather" charset="1" panose="00000500000000000000"/>
      <p:regular r:id="rId22"/>
    </p:embeddedFont>
    <p:embeddedFont>
      <p:font typeface="Montserrat" charset="1" panose="00000500000000000000"/>
      <p:regular r:id="rId23"/>
    </p:embeddedFont>
    <p:embeddedFont>
      <p:font typeface="Open Sauce Bold" charset="1" panose="00000800000000000000"/>
      <p:regular r:id="rId24"/>
    </p:embeddedFont>
    <p:embeddedFont>
      <p:font typeface="Merriweather Bold" charset="1" panose="00000800000000000000"/>
      <p:regular r:id="rId25"/>
    </p:embeddedFont>
    <p:embeddedFont>
      <p:font typeface="Open Sauce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6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65706" y="7090681"/>
            <a:ext cx="6064830" cy="1592018"/>
          </a:xfrm>
          <a:custGeom>
            <a:avLst/>
            <a:gdLst/>
            <a:ahLst/>
            <a:cxnLst/>
            <a:rect r="r" b="b" t="t" l="l"/>
            <a:pathLst>
              <a:path h="1592018" w="6064830">
                <a:moveTo>
                  <a:pt x="0" y="0"/>
                </a:moveTo>
                <a:lnTo>
                  <a:pt x="6064831" y="0"/>
                </a:lnTo>
                <a:lnTo>
                  <a:pt x="6064831" y="1592018"/>
                </a:lnTo>
                <a:lnTo>
                  <a:pt x="0" y="1592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94256" y="2510587"/>
            <a:ext cx="7344136" cy="4131076"/>
          </a:xfrm>
          <a:custGeom>
            <a:avLst/>
            <a:gdLst/>
            <a:ahLst/>
            <a:cxnLst/>
            <a:rect r="r" b="b" t="t" l="l"/>
            <a:pathLst>
              <a:path h="4131076" w="7344136">
                <a:moveTo>
                  <a:pt x="0" y="0"/>
                </a:moveTo>
                <a:lnTo>
                  <a:pt x="7344136" y="0"/>
                </a:lnTo>
                <a:lnTo>
                  <a:pt x="7344136" y="4131077"/>
                </a:lnTo>
                <a:lnTo>
                  <a:pt x="0" y="4131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2324979"/>
            <a:ext cx="7823989" cy="5656092"/>
          </a:xfrm>
          <a:custGeom>
            <a:avLst/>
            <a:gdLst/>
            <a:ahLst/>
            <a:cxnLst/>
            <a:rect r="r" b="b" t="t" l="l"/>
            <a:pathLst>
              <a:path h="5656092" w="7823989">
                <a:moveTo>
                  <a:pt x="0" y="0"/>
                </a:moveTo>
                <a:lnTo>
                  <a:pt x="7823989" y="0"/>
                </a:lnTo>
                <a:lnTo>
                  <a:pt x="7823989" y="5656092"/>
                </a:lnTo>
                <a:lnTo>
                  <a:pt x="0" y="56560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04204" y="152400"/>
            <a:ext cx="4393296" cy="1098324"/>
          </a:xfrm>
          <a:custGeom>
            <a:avLst/>
            <a:gdLst/>
            <a:ahLst/>
            <a:cxnLst/>
            <a:rect r="r" b="b" t="t" l="l"/>
            <a:pathLst>
              <a:path h="1098324" w="4393296">
                <a:moveTo>
                  <a:pt x="0" y="0"/>
                </a:moveTo>
                <a:lnTo>
                  <a:pt x="4393296" y="0"/>
                </a:lnTo>
                <a:lnTo>
                  <a:pt x="4393296" y="1098324"/>
                </a:lnTo>
                <a:lnTo>
                  <a:pt x="0" y="10983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95350" y="3161592"/>
            <a:ext cx="8248650" cy="134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0440"/>
              </a:lnSpc>
              <a:spcBef>
                <a:spcPct val="0"/>
              </a:spcBef>
            </a:pPr>
            <a:r>
              <a:rPr lang="en-US" sz="9000" spc="-270" strike="noStrike" u="none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SENIORCARE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9675" y="5133975"/>
            <a:ext cx="7620000" cy="65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9"/>
              </a:lnSpc>
              <a:spcBef>
                <a:spcPct val="0"/>
              </a:spcBef>
            </a:pPr>
            <a:r>
              <a:rPr lang="en-US" sz="1999" strike="noStrike" u="none">
                <a:solidFill>
                  <a:srgbClr val="D8E2F1"/>
                </a:solidFill>
                <a:latin typeface="Montserrat"/>
                <a:ea typeface="Montserrat"/>
                <a:cs typeface="Montserrat"/>
                <a:sym typeface="Montserrat"/>
              </a:rPr>
              <a:t>SISTEMA INTELIGENTE PARA LA GESTIÓN DE SOLICITUDES DE ATENCIÓN EN HOGARES DE ADULTOS MAYORES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4875" y="8745564"/>
            <a:ext cx="7620000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099" strike="noStrike" u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Proyecto Final Capstone</a:t>
            </a:r>
          </a:p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099" strike="noStrike" u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Ingeniería en Informática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8855" y="312185"/>
            <a:ext cx="1234546" cy="19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391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Julio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55994" y="8654124"/>
            <a:ext cx="5041506" cy="1030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2"/>
              </a:lnSpc>
            </a:pPr>
            <a:r>
              <a:rPr lang="en-US" b="true" sz="2117" strike="noStrike" u="none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Juan Carvajal</a:t>
            </a:r>
          </a:p>
          <a:p>
            <a:pPr algn="l" marL="0" indent="0" lvl="0">
              <a:lnSpc>
                <a:spcPts val="2752"/>
              </a:lnSpc>
            </a:pPr>
            <a:r>
              <a:rPr lang="en-US" b="true" sz="2117" strike="noStrike" u="none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Camilo Silva</a:t>
            </a:r>
          </a:p>
          <a:p>
            <a:pPr algn="l" marL="0" indent="0" lvl="0">
              <a:lnSpc>
                <a:spcPts val="2752"/>
              </a:lnSpc>
            </a:pPr>
            <a:r>
              <a:rPr lang="en-US" b="true" sz="2117" strike="noStrike" u="none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Michelle Vega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572500" y="1495425"/>
            <a:ext cx="1143000" cy="0"/>
          </a:xfrm>
          <a:prstGeom prst="line">
            <a:avLst/>
          </a:prstGeom>
          <a:ln cap="flat" w="38100">
            <a:solidFill>
              <a:srgbClr val="3F598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619750" y="467694"/>
            <a:ext cx="7048500" cy="90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03"/>
              </a:lnSpc>
              <a:spcBef>
                <a:spcPct val="0"/>
              </a:spcBef>
            </a:pPr>
            <a:r>
              <a:rPr lang="en-US" sz="5288" strike="noStrike" u="none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Equipo de Desarrollo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14500" y="2438400"/>
            <a:ext cx="4572000" cy="4953000"/>
            <a:chOff x="0" y="0"/>
            <a:chExt cx="6096000" cy="660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96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6096000">
                  <a:moveTo>
                    <a:pt x="609600" y="0"/>
                  </a:moveTo>
                  <a:lnTo>
                    <a:pt x="5486400" y="0"/>
                  </a:lnTo>
                  <a:cubicBezTo>
                    <a:pt x="5823073" y="0"/>
                    <a:pt x="6096000" y="272927"/>
                    <a:pt x="6096000" y="609600"/>
                  </a:cubicBezTo>
                  <a:lnTo>
                    <a:pt x="6096000" y="5994400"/>
                  </a:lnTo>
                  <a:cubicBezTo>
                    <a:pt x="6096000" y="6331073"/>
                    <a:pt x="5823073" y="6604000"/>
                    <a:pt x="5486400" y="6604000"/>
                  </a:cubicBezTo>
                  <a:lnTo>
                    <a:pt x="609600" y="6604000"/>
                  </a:lnTo>
                  <a:cubicBezTo>
                    <a:pt x="272927" y="6604000"/>
                    <a:pt x="0" y="6331073"/>
                    <a:pt x="0" y="5994400"/>
                  </a:cubicBezTo>
                  <a:lnTo>
                    <a:pt x="0" y="609600"/>
                  </a:lnTo>
                  <a:cubicBezTo>
                    <a:pt x="0" y="272927"/>
                    <a:pt x="272927" y="0"/>
                    <a:pt x="609600" y="0"/>
                  </a:cubicBezTo>
                  <a:close/>
                </a:path>
              </a:pathLst>
            </a:custGeom>
            <a:solidFill>
              <a:srgbClr val="3F5984"/>
            </a:solidFill>
            <a:ln w="9525" cap="sq">
              <a:solidFill>
                <a:srgbClr val="3F5984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6096000" cy="666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1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619500" y="2771775"/>
            <a:ext cx="762000" cy="857250"/>
            <a:chOff x="0" y="0"/>
            <a:chExt cx="1016000" cy="114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16000">
                  <a:moveTo>
                    <a:pt x="508000" y="0"/>
                  </a:moveTo>
                  <a:cubicBezTo>
                    <a:pt x="227439" y="0"/>
                    <a:pt x="0" y="255869"/>
                    <a:pt x="0" y="571500"/>
                  </a:cubicBezTo>
                  <a:cubicBezTo>
                    <a:pt x="0" y="887131"/>
                    <a:pt x="227439" y="1143000"/>
                    <a:pt x="508000" y="1143000"/>
                  </a:cubicBezTo>
                  <a:cubicBezTo>
                    <a:pt x="788561" y="1143000"/>
                    <a:pt x="1016000" y="887131"/>
                    <a:pt x="1016000" y="571500"/>
                  </a:cubicBezTo>
                  <a:cubicBezTo>
                    <a:pt x="1016000" y="25586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016000" cy="1228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879"/>
                </a:lnSpc>
                <a:spcBef>
                  <a:spcPct val="0"/>
                </a:spcBef>
              </a:pPr>
              <a:r>
                <a:rPr lang="en-US" sz="41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👩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905000" y="3729038"/>
            <a:ext cx="4191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Michelle Vega</a:t>
            </a:r>
          </a:p>
        </p:txBody>
      </p:sp>
      <p:sp>
        <p:nvSpPr>
          <p:cNvPr name="AutoShape 11" id="11"/>
          <p:cNvSpPr/>
          <p:nvPr/>
        </p:nvSpPr>
        <p:spPr>
          <a:xfrm>
            <a:off x="2095500" y="4248150"/>
            <a:ext cx="3810000" cy="0"/>
          </a:xfrm>
          <a:prstGeom prst="line">
            <a:avLst/>
          </a:prstGeom>
          <a:ln cap="flat" w="19050">
            <a:solidFill>
              <a:srgbClr val="D8E2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000250" y="4514850"/>
            <a:ext cx="4000500" cy="158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D8E2F1"/>
                </a:solidFill>
                <a:latin typeface="Open Sauce"/>
                <a:ea typeface="Open Sauce"/>
                <a:cs typeface="Open Sauce"/>
                <a:sym typeface="Open Sauce"/>
              </a:rPr>
              <a:t>Arquitectura del sistema</a:t>
            </a:r>
          </a:p>
          <a:p>
            <a:pPr algn="ctr" marL="0" indent="0" lvl="0">
              <a:lnSpc>
                <a:spcPts val="431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D8E2F1"/>
                </a:solidFill>
                <a:latin typeface="Open Sauce"/>
                <a:ea typeface="Open Sauce"/>
                <a:cs typeface="Open Sauce"/>
                <a:sym typeface="Open Sauce"/>
              </a:rPr>
              <a:t>Documentación</a:t>
            </a:r>
          </a:p>
          <a:p>
            <a:pPr algn="ctr" marL="0" indent="0" lvl="0">
              <a:lnSpc>
                <a:spcPts val="431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D8E2F1"/>
                </a:solidFill>
                <a:latin typeface="Open Sauce"/>
                <a:ea typeface="Open Sauce"/>
                <a:cs typeface="Open Sauce"/>
                <a:sym typeface="Open Sauce"/>
              </a:rPr>
              <a:t>Pruebas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58000" y="2438400"/>
            <a:ext cx="4572000" cy="4953000"/>
            <a:chOff x="0" y="0"/>
            <a:chExt cx="6096000" cy="660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96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6096000">
                  <a:moveTo>
                    <a:pt x="609600" y="0"/>
                  </a:moveTo>
                  <a:lnTo>
                    <a:pt x="5486400" y="0"/>
                  </a:lnTo>
                  <a:cubicBezTo>
                    <a:pt x="5823073" y="0"/>
                    <a:pt x="6096000" y="272927"/>
                    <a:pt x="6096000" y="609600"/>
                  </a:cubicBezTo>
                  <a:lnTo>
                    <a:pt x="6096000" y="5994400"/>
                  </a:lnTo>
                  <a:cubicBezTo>
                    <a:pt x="6096000" y="6331073"/>
                    <a:pt x="5823073" y="6604000"/>
                    <a:pt x="5486400" y="6604000"/>
                  </a:cubicBezTo>
                  <a:lnTo>
                    <a:pt x="609600" y="6604000"/>
                  </a:lnTo>
                  <a:cubicBezTo>
                    <a:pt x="272927" y="6604000"/>
                    <a:pt x="0" y="6331073"/>
                    <a:pt x="0" y="5994400"/>
                  </a:cubicBezTo>
                  <a:lnTo>
                    <a:pt x="0" y="609600"/>
                  </a:lnTo>
                  <a:cubicBezTo>
                    <a:pt x="0" y="272927"/>
                    <a:pt x="272927" y="0"/>
                    <a:pt x="609600" y="0"/>
                  </a:cubicBezTo>
                  <a:close/>
                </a:path>
              </a:pathLst>
            </a:custGeom>
            <a:solidFill>
              <a:srgbClr val="3F5984"/>
            </a:solidFill>
            <a:ln w="9525" cap="sq">
              <a:solidFill>
                <a:srgbClr val="3F5984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6096000" cy="666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5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763000" y="2771775"/>
            <a:ext cx="762000" cy="857250"/>
            <a:chOff x="0" y="0"/>
            <a:chExt cx="1016000" cy="114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6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16000">
                  <a:moveTo>
                    <a:pt x="508000" y="0"/>
                  </a:moveTo>
                  <a:cubicBezTo>
                    <a:pt x="227439" y="0"/>
                    <a:pt x="0" y="255869"/>
                    <a:pt x="0" y="571500"/>
                  </a:cubicBezTo>
                  <a:cubicBezTo>
                    <a:pt x="0" y="887131"/>
                    <a:pt x="227439" y="1143000"/>
                    <a:pt x="508000" y="1143000"/>
                  </a:cubicBezTo>
                  <a:cubicBezTo>
                    <a:pt x="788561" y="1143000"/>
                    <a:pt x="1016000" y="887131"/>
                    <a:pt x="1016000" y="571500"/>
                  </a:cubicBezTo>
                  <a:cubicBezTo>
                    <a:pt x="1016000" y="25586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1016000" cy="1228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879"/>
                </a:lnSpc>
                <a:spcBef>
                  <a:spcPct val="0"/>
                </a:spcBef>
              </a:pPr>
              <a:r>
                <a:rPr lang="en-US" sz="41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👨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048500" y="3729038"/>
            <a:ext cx="4191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Juan Carvajal</a:t>
            </a:r>
          </a:p>
        </p:txBody>
      </p:sp>
      <p:sp>
        <p:nvSpPr>
          <p:cNvPr name="AutoShape 20" id="20"/>
          <p:cNvSpPr/>
          <p:nvPr/>
        </p:nvSpPr>
        <p:spPr>
          <a:xfrm>
            <a:off x="7239000" y="4248150"/>
            <a:ext cx="3810000" cy="0"/>
          </a:xfrm>
          <a:prstGeom prst="line">
            <a:avLst/>
          </a:prstGeom>
          <a:ln cap="flat" w="19050">
            <a:solidFill>
              <a:srgbClr val="D8E2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7143750" y="4514850"/>
            <a:ext cx="4000500" cy="158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D8E2F1"/>
                </a:solidFill>
                <a:latin typeface="Open Sauce"/>
                <a:ea typeface="Open Sauce"/>
                <a:cs typeface="Open Sauce"/>
                <a:sym typeface="Open Sauce"/>
              </a:rPr>
              <a:t>Frontend Web</a:t>
            </a:r>
          </a:p>
          <a:p>
            <a:pPr algn="ctr" marL="0" indent="0" lvl="0">
              <a:lnSpc>
                <a:spcPts val="431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D8E2F1"/>
                </a:solidFill>
                <a:latin typeface="Open Sauce"/>
                <a:ea typeface="Open Sauce"/>
                <a:cs typeface="Open Sauce"/>
                <a:sym typeface="Open Sauce"/>
              </a:rPr>
              <a:t>Aplicación móvil</a:t>
            </a:r>
          </a:p>
          <a:p>
            <a:pPr algn="ctr" marL="0" indent="0" lvl="0">
              <a:lnSpc>
                <a:spcPts val="431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D8E2F1"/>
                </a:solidFill>
                <a:latin typeface="Open Sauce"/>
                <a:ea typeface="Open Sauce"/>
                <a:cs typeface="Open Sauce"/>
                <a:sym typeface="Open Sauce"/>
              </a:rPr>
              <a:t>Backend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001500" y="2438400"/>
            <a:ext cx="4572000" cy="4953000"/>
            <a:chOff x="0" y="0"/>
            <a:chExt cx="6096000" cy="660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96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6096000">
                  <a:moveTo>
                    <a:pt x="609600" y="0"/>
                  </a:moveTo>
                  <a:lnTo>
                    <a:pt x="5486400" y="0"/>
                  </a:lnTo>
                  <a:cubicBezTo>
                    <a:pt x="5823073" y="0"/>
                    <a:pt x="6096000" y="272927"/>
                    <a:pt x="6096000" y="609600"/>
                  </a:cubicBezTo>
                  <a:lnTo>
                    <a:pt x="6096000" y="5994400"/>
                  </a:lnTo>
                  <a:cubicBezTo>
                    <a:pt x="6096000" y="6331073"/>
                    <a:pt x="5823073" y="6604000"/>
                    <a:pt x="5486400" y="6604000"/>
                  </a:cubicBezTo>
                  <a:lnTo>
                    <a:pt x="609600" y="6604000"/>
                  </a:lnTo>
                  <a:cubicBezTo>
                    <a:pt x="272927" y="6604000"/>
                    <a:pt x="0" y="6331073"/>
                    <a:pt x="0" y="5994400"/>
                  </a:cubicBezTo>
                  <a:lnTo>
                    <a:pt x="0" y="609600"/>
                  </a:lnTo>
                  <a:cubicBezTo>
                    <a:pt x="0" y="272927"/>
                    <a:pt x="272927" y="0"/>
                    <a:pt x="609600" y="0"/>
                  </a:cubicBezTo>
                  <a:close/>
                </a:path>
              </a:pathLst>
            </a:custGeom>
            <a:solidFill>
              <a:srgbClr val="3F5984"/>
            </a:solidFill>
            <a:ln w="9525" cap="sq">
              <a:solidFill>
                <a:srgbClr val="3F5984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6096000" cy="666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5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906500" y="2771775"/>
            <a:ext cx="762000" cy="857250"/>
            <a:chOff x="0" y="0"/>
            <a:chExt cx="1016000" cy="1143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16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16000">
                  <a:moveTo>
                    <a:pt x="508000" y="0"/>
                  </a:moveTo>
                  <a:cubicBezTo>
                    <a:pt x="227439" y="0"/>
                    <a:pt x="0" y="255869"/>
                    <a:pt x="0" y="571500"/>
                  </a:cubicBezTo>
                  <a:cubicBezTo>
                    <a:pt x="0" y="887131"/>
                    <a:pt x="227439" y="1143000"/>
                    <a:pt x="508000" y="1143000"/>
                  </a:cubicBezTo>
                  <a:cubicBezTo>
                    <a:pt x="788561" y="1143000"/>
                    <a:pt x="1016000" y="887131"/>
                    <a:pt x="1016000" y="571500"/>
                  </a:cubicBezTo>
                  <a:cubicBezTo>
                    <a:pt x="1016000" y="25586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1016000" cy="1228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879"/>
                </a:lnSpc>
                <a:spcBef>
                  <a:spcPct val="0"/>
                </a:spcBef>
              </a:pPr>
              <a:r>
                <a:rPr lang="en-US" sz="41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👨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2192000" y="3729038"/>
            <a:ext cx="4191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Camilo Silva</a:t>
            </a:r>
          </a:p>
        </p:txBody>
      </p:sp>
      <p:sp>
        <p:nvSpPr>
          <p:cNvPr name="AutoShape 29" id="29"/>
          <p:cNvSpPr/>
          <p:nvPr/>
        </p:nvSpPr>
        <p:spPr>
          <a:xfrm>
            <a:off x="12382500" y="4248150"/>
            <a:ext cx="3810000" cy="0"/>
          </a:xfrm>
          <a:prstGeom prst="line">
            <a:avLst/>
          </a:prstGeom>
          <a:ln cap="flat" w="19050">
            <a:solidFill>
              <a:srgbClr val="D8E2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12287250" y="4514850"/>
            <a:ext cx="4000500" cy="158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D8E2F1"/>
                </a:solidFill>
                <a:latin typeface="Open Sauce"/>
                <a:ea typeface="Open Sauce"/>
                <a:cs typeface="Open Sauce"/>
                <a:sym typeface="Open Sauce"/>
              </a:rPr>
              <a:t>Base de Datos</a:t>
            </a:r>
          </a:p>
          <a:p>
            <a:pPr algn="ctr" marL="0" indent="0" lvl="0">
              <a:lnSpc>
                <a:spcPts val="431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D8E2F1"/>
                </a:solidFill>
                <a:latin typeface="Open Sauce"/>
                <a:ea typeface="Open Sauce"/>
                <a:cs typeface="Open Sauce"/>
                <a:sym typeface="Open Sauce"/>
              </a:rPr>
              <a:t>Autenticación</a:t>
            </a:r>
          </a:p>
          <a:p>
            <a:pPr algn="ctr" marL="0" indent="0" lvl="0">
              <a:lnSpc>
                <a:spcPts val="431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D8E2F1"/>
                </a:solidFill>
                <a:latin typeface="Open Sauce"/>
                <a:ea typeface="Open Sauce"/>
                <a:cs typeface="Open Sauce"/>
                <a:sym typeface="Open Sauce"/>
              </a:rPr>
              <a:t>Modelado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3704204" y="152400"/>
            <a:ext cx="4393296" cy="1098324"/>
          </a:xfrm>
          <a:custGeom>
            <a:avLst/>
            <a:gdLst/>
            <a:ahLst/>
            <a:cxnLst/>
            <a:rect r="r" b="b" t="t" l="l"/>
            <a:pathLst>
              <a:path h="1098324" w="4393296">
                <a:moveTo>
                  <a:pt x="0" y="0"/>
                </a:moveTo>
                <a:lnTo>
                  <a:pt x="4393296" y="0"/>
                </a:lnTo>
                <a:lnTo>
                  <a:pt x="4393296" y="1098324"/>
                </a:lnTo>
                <a:lnTo>
                  <a:pt x="0" y="1098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95425" y="1076325"/>
            <a:ext cx="7905750" cy="752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18"/>
              </a:lnSpc>
              <a:spcBef>
                <a:spcPct val="0"/>
              </a:spcBef>
            </a:pPr>
            <a:r>
              <a:rPr lang="en-US" sz="5289" strike="noStrike" u="none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Problemas actuales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95425" y="2411730"/>
            <a:ext cx="79057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❌  Solicitudes verbales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95425" y="3030855"/>
            <a:ext cx="79057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❌  Se olvidan tareas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5425" y="3649980"/>
            <a:ext cx="79057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❌  Retrasos en actividades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95425" y="4269105"/>
            <a:ext cx="79057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❌  Mala distribución del trabajo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5425" y="4888230"/>
            <a:ext cx="79057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❌  No existen métricas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29750" y="1028700"/>
            <a:ext cx="7359535" cy="4876800"/>
            <a:chOff x="0" y="0"/>
            <a:chExt cx="10541000" cy="698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41000" cy="6985000"/>
            </a:xfrm>
            <a:custGeom>
              <a:avLst/>
              <a:gdLst/>
              <a:ahLst/>
              <a:cxnLst/>
              <a:rect r="r" b="b" t="t" l="l"/>
              <a:pathLst>
                <a:path h="6985000" w="10541000">
                  <a:moveTo>
                    <a:pt x="698500" y="0"/>
                  </a:moveTo>
                  <a:lnTo>
                    <a:pt x="9842500" y="0"/>
                  </a:lnTo>
                  <a:cubicBezTo>
                    <a:pt x="10228271" y="0"/>
                    <a:pt x="10541000" y="312729"/>
                    <a:pt x="10541000" y="698500"/>
                  </a:cubicBezTo>
                  <a:lnTo>
                    <a:pt x="10541000" y="6286500"/>
                  </a:lnTo>
                  <a:cubicBezTo>
                    <a:pt x="10541000" y="6672271"/>
                    <a:pt x="10228271" y="6985000"/>
                    <a:pt x="9842500" y="6985000"/>
                  </a:cubicBezTo>
                  <a:lnTo>
                    <a:pt x="698500" y="6985000"/>
                  </a:lnTo>
                  <a:cubicBezTo>
                    <a:pt x="312729" y="6985000"/>
                    <a:pt x="0" y="6672271"/>
                    <a:pt x="0" y="6286500"/>
                  </a:cubicBezTo>
                  <a:lnTo>
                    <a:pt x="0" y="698500"/>
                  </a:ln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blipFill>
              <a:blip r:embed="rId2"/>
              <a:stretch>
                <a:fillRect l="-11" t="0" r="-11" b="0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>
            <a:off x="952500" y="6477000"/>
            <a:ext cx="16383000" cy="0"/>
          </a:xfrm>
          <a:prstGeom prst="line">
            <a:avLst/>
          </a:prstGeom>
          <a:ln cap="flat" w="19050">
            <a:solidFill>
              <a:srgbClr val="3F598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239000" y="6648450"/>
            <a:ext cx="38100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3999" strike="noStrike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Impacto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05000" y="7496175"/>
            <a:ext cx="4572000" cy="1143000"/>
            <a:chOff x="0" y="0"/>
            <a:chExt cx="6096000" cy="152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9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096000">
                  <a:moveTo>
                    <a:pt x="152400" y="0"/>
                  </a:moveTo>
                  <a:lnTo>
                    <a:pt x="5943600" y="0"/>
                  </a:lnTo>
                  <a:cubicBezTo>
                    <a:pt x="6027768" y="0"/>
                    <a:pt x="6096000" y="68232"/>
                    <a:pt x="6096000" y="152400"/>
                  </a:cubicBezTo>
                  <a:lnTo>
                    <a:pt x="6096000" y="1371600"/>
                  </a:lnTo>
                  <a:cubicBezTo>
                    <a:pt x="6096000" y="1455768"/>
                    <a:pt x="6027768" y="1524000"/>
                    <a:pt x="5943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6096000" cy="157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3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Demoras en la atención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0" y="7496175"/>
            <a:ext cx="4572000" cy="1143000"/>
            <a:chOff x="0" y="0"/>
            <a:chExt cx="6096000" cy="1524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9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096000">
                  <a:moveTo>
                    <a:pt x="152400" y="0"/>
                  </a:moveTo>
                  <a:lnTo>
                    <a:pt x="5943600" y="0"/>
                  </a:lnTo>
                  <a:cubicBezTo>
                    <a:pt x="6027768" y="0"/>
                    <a:pt x="6096000" y="68232"/>
                    <a:pt x="6096000" y="152400"/>
                  </a:cubicBezTo>
                  <a:lnTo>
                    <a:pt x="6096000" y="1371600"/>
                  </a:lnTo>
                  <a:cubicBezTo>
                    <a:pt x="6096000" y="1455768"/>
                    <a:pt x="6027768" y="1524000"/>
                    <a:pt x="5943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6096000" cy="157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3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Desorganización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11000" y="7496175"/>
            <a:ext cx="4572000" cy="1143000"/>
            <a:chOff x="0" y="0"/>
            <a:chExt cx="6096000" cy="152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9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096000">
                  <a:moveTo>
                    <a:pt x="152400" y="0"/>
                  </a:moveTo>
                  <a:lnTo>
                    <a:pt x="5943600" y="0"/>
                  </a:lnTo>
                  <a:cubicBezTo>
                    <a:pt x="6027768" y="0"/>
                    <a:pt x="6096000" y="68232"/>
                    <a:pt x="6096000" y="152400"/>
                  </a:cubicBezTo>
                  <a:lnTo>
                    <a:pt x="6096000" y="1371600"/>
                  </a:lnTo>
                  <a:cubicBezTo>
                    <a:pt x="6096000" y="1455768"/>
                    <a:pt x="6027768" y="1524000"/>
                    <a:pt x="5943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096000" cy="157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3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Menor calidad de servicio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3704204" y="152400"/>
            <a:ext cx="4393296" cy="1098324"/>
          </a:xfrm>
          <a:custGeom>
            <a:avLst/>
            <a:gdLst/>
            <a:ahLst/>
            <a:cxnLst/>
            <a:rect r="r" b="b" t="t" l="l"/>
            <a:pathLst>
              <a:path h="1098324" w="4393296">
                <a:moveTo>
                  <a:pt x="0" y="0"/>
                </a:moveTo>
                <a:lnTo>
                  <a:pt x="4393296" y="0"/>
                </a:lnTo>
                <a:lnTo>
                  <a:pt x="4393296" y="1098324"/>
                </a:lnTo>
                <a:lnTo>
                  <a:pt x="0" y="1098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86125" y="2000250"/>
            <a:ext cx="3688297" cy="596636"/>
            <a:chOff x="0" y="0"/>
            <a:chExt cx="43180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8000" cy="698500"/>
            </a:xfrm>
            <a:custGeom>
              <a:avLst/>
              <a:gdLst/>
              <a:ahLst/>
              <a:cxnLst/>
              <a:rect r="r" b="b" t="t" l="l"/>
              <a:pathLst>
                <a:path h="698500" w="4318000">
                  <a:moveTo>
                    <a:pt x="69850" y="0"/>
                  </a:moveTo>
                  <a:lnTo>
                    <a:pt x="4248150" y="0"/>
                  </a:lnTo>
                  <a:cubicBezTo>
                    <a:pt x="4286727" y="0"/>
                    <a:pt x="4318000" y="31273"/>
                    <a:pt x="4318000" y="69850"/>
                  </a:cubicBezTo>
                  <a:lnTo>
                    <a:pt x="4318000" y="628650"/>
                  </a:lnTo>
                  <a:cubicBezTo>
                    <a:pt x="4318000" y="667227"/>
                    <a:pt x="4286727" y="698500"/>
                    <a:pt x="4248150" y="698500"/>
                  </a:cubicBezTo>
                  <a:lnTo>
                    <a:pt x="69850" y="698500"/>
                  </a:lnTo>
                  <a:cubicBezTo>
                    <a:pt x="31273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31273" y="0"/>
                    <a:pt x="6985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180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3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Residente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5130274" y="2618582"/>
            <a:ext cx="0" cy="151871"/>
          </a:xfrm>
          <a:prstGeom prst="line">
            <a:avLst/>
          </a:prstGeom>
          <a:ln cap="flat" w="19050">
            <a:solidFill>
              <a:srgbClr val="3F5984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" id="6"/>
          <p:cNvGrpSpPr/>
          <p:nvPr/>
        </p:nvGrpSpPr>
        <p:grpSpPr>
          <a:xfrm rot="0">
            <a:off x="3286125" y="2792149"/>
            <a:ext cx="3688297" cy="596636"/>
            <a:chOff x="0" y="0"/>
            <a:chExt cx="4318000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18000" cy="698500"/>
            </a:xfrm>
            <a:custGeom>
              <a:avLst/>
              <a:gdLst/>
              <a:ahLst/>
              <a:cxnLst/>
              <a:rect r="r" b="b" t="t" l="l"/>
              <a:pathLst>
                <a:path h="698500" w="4318000">
                  <a:moveTo>
                    <a:pt x="69850" y="0"/>
                  </a:moveTo>
                  <a:lnTo>
                    <a:pt x="4248150" y="0"/>
                  </a:lnTo>
                  <a:cubicBezTo>
                    <a:pt x="4286727" y="0"/>
                    <a:pt x="4318000" y="31273"/>
                    <a:pt x="4318000" y="69850"/>
                  </a:cubicBezTo>
                  <a:lnTo>
                    <a:pt x="4318000" y="628650"/>
                  </a:lnTo>
                  <a:cubicBezTo>
                    <a:pt x="4318000" y="667227"/>
                    <a:pt x="4286727" y="698500"/>
                    <a:pt x="4248150" y="698500"/>
                  </a:cubicBezTo>
                  <a:lnTo>
                    <a:pt x="69850" y="698500"/>
                  </a:lnTo>
                  <a:cubicBezTo>
                    <a:pt x="31273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31273" y="0"/>
                    <a:pt x="6985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3180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3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Aplicación móvil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5130274" y="3410481"/>
            <a:ext cx="0" cy="151871"/>
          </a:xfrm>
          <a:prstGeom prst="line">
            <a:avLst/>
          </a:prstGeom>
          <a:ln cap="flat" w="19050">
            <a:solidFill>
              <a:srgbClr val="3F5984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3286125" y="3584048"/>
            <a:ext cx="3688297" cy="596636"/>
            <a:chOff x="0" y="0"/>
            <a:chExt cx="4318000" cy="698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18000" cy="698500"/>
            </a:xfrm>
            <a:custGeom>
              <a:avLst/>
              <a:gdLst/>
              <a:ahLst/>
              <a:cxnLst/>
              <a:rect r="r" b="b" t="t" l="l"/>
              <a:pathLst>
                <a:path h="698500" w="4318000">
                  <a:moveTo>
                    <a:pt x="69850" y="0"/>
                  </a:moveTo>
                  <a:lnTo>
                    <a:pt x="4248150" y="0"/>
                  </a:lnTo>
                  <a:cubicBezTo>
                    <a:pt x="4286727" y="0"/>
                    <a:pt x="4318000" y="31273"/>
                    <a:pt x="4318000" y="69850"/>
                  </a:cubicBezTo>
                  <a:lnTo>
                    <a:pt x="4318000" y="628650"/>
                  </a:lnTo>
                  <a:cubicBezTo>
                    <a:pt x="4318000" y="667227"/>
                    <a:pt x="4286727" y="698500"/>
                    <a:pt x="4248150" y="698500"/>
                  </a:cubicBezTo>
                  <a:lnTo>
                    <a:pt x="69850" y="698500"/>
                  </a:lnTo>
                  <a:cubicBezTo>
                    <a:pt x="31273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31273" y="0"/>
                    <a:pt x="6985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3180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3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Servidor (Supabase)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5130274" y="4202380"/>
            <a:ext cx="0" cy="151871"/>
          </a:xfrm>
          <a:prstGeom prst="line">
            <a:avLst/>
          </a:prstGeom>
          <a:ln cap="flat" w="19050">
            <a:solidFill>
              <a:srgbClr val="3F5984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3286125" y="4375947"/>
            <a:ext cx="3688297" cy="596636"/>
            <a:chOff x="0" y="0"/>
            <a:chExt cx="43180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18000" cy="698500"/>
            </a:xfrm>
            <a:custGeom>
              <a:avLst/>
              <a:gdLst/>
              <a:ahLst/>
              <a:cxnLst/>
              <a:rect r="r" b="b" t="t" l="l"/>
              <a:pathLst>
                <a:path h="698500" w="4318000">
                  <a:moveTo>
                    <a:pt x="69850" y="0"/>
                  </a:moveTo>
                  <a:lnTo>
                    <a:pt x="4248150" y="0"/>
                  </a:lnTo>
                  <a:cubicBezTo>
                    <a:pt x="4286727" y="0"/>
                    <a:pt x="4318000" y="31273"/>
                    <a:pt x="4318000" y="69850"/>
                  </a:cubicBezTo>
                  <a:lnTo>
                    <a:pt x="4318000" y="628650"/>
                  </a:lnTo>
                  <a:cubicBezTo>
                    <a:pt x="4318000" y="667227"/>
                    <a:pt x="4286727" y="698500"/>
                    <a:pt x="4248150" y="698500"/>
                  </a:cubicBezTo>
                  <a:lnTo>
                    <a:pt x="69850" y="698500"/>
                  </a:lnTo>
                  <a:cubicBezTo>
                    <a:pt x="31273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31273" y="0"/>
                    <a:pt x="6985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3180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3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Panel Web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5130274" y="4994280"/>
            <a:ext cx="0" cy="151871"/>
          </a:xfrm>
          <a:prstGeom prst="line">
            <a:avLst/>
          </a:prstGeom>
          <a:ln cap="flat" w="19050">
            <a:solidFill>
              <a:srgbClr val="3F5984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8" id="18"/>
          <p:cNvGrpSpPr/>
          <p:nvPr/>
        </p:nvGrpSpPr>
        <p:grpSpPr>
          <a:xfrm rot="0">
            <a:off x="3286125" y="5167846"/>
            <a:ext cx="3688297" cy="596636"/>
            <a:chOff x="0" y="0"/>
            <a:chExt cx="4318000" cy="698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18000" cy="698500"/>
            </a:xfrm>
            <a:custGeom>
              <a:avLst/>
              <a:gdLst/>
              <a:ahLst/>
              <a:cxnLst/>
              <a:rect r="r" b="b" t="t" l="l"/>
              <a:pathLst>
                <a:path h="698500" w="4318000">
                  <a:moveTo>
                    <a:pt x="69850" y="0"/>
                  </a:moveTo>
                  <a:lnTo>
                    <a:pt x="4248150" y="0"/>
                  </a:lnTo>
                  <a:cubicBezTo>
                    <a:pt x="4286727" y="0"/>
                    <a:pt x="4318000" y="31273"/>
                    <a:pt x="4318000" y="69850"/>
                  </a:cubicBezTo>
                  <a:lnTo>
                    <a:pt x="4318000" y="628650"/>
                  </a:lnTo>
                  <a:cubicBezTo>
                    <a:pt x="4318000" y="667227"/>
                    <a:pt x="4286727" y="698500"/>
                    <a:pt x="4248150" y="698500"/>
                  </a:cubicBezTo>
                  <a:lnTo>
                    <a:pt x="69850" y="698500"/>
                  </a:lnTo>
                  <a:cubicBezTo>
                    <a:pt x="31273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31273" y="0"/>
                    <a:pt x="6985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3180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3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Cuidador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5130274" y="5786179"/>
            <a:ext cx="0" cy="151871"/>
          </a:xfrm>
          <a:prstGeom prst="line">
            <a:avLst/>
          </a:prstGeom>
          <a:ln cap="flat" w="19050">
            <a:solidFill>
              <a:srgbClr val="3F5984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3286125" y="5959746"/>
            <a:ext cx="3688297" cy="596636"/>
            <a:chOff x="0" y="0"/>
            <a:chExt cx="4318000" cy="698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18000" cy="698500"/>
            </a:xfrm>
            <a:custGeom>
              <a:avLst/>
              <a:gdLst/>
              <a:ahLst/>
              <a:cxnLst/>
              <a:rect r="r" b="b" t="t" l="l"/>
              <a:pathLst>
                <a:path h="698500" w="4318000">
                  <a:moveTo>
                    <a:pt x="69850" y="0"/>
                  </a:moveTo>
                  <a:lnTo>
                    <a:pt x="4248150" y="0"/>
                  </a:lnTo>
                  <a:cubicBezTo>
                    <a:pt x="4286727" y="0"/>
                    <a:pt x="4318000" y="31273"/>
                    <a:pt x="4318000" y="69850"/>
                  </a:cubicBezTo>
                  <a:lnTo>
                    <a:pt x="4318000" y="628650"/>
                  </a:lnTo>
                  <a:cubicBezTo>
                    <a:pt x="4318000" y="667227"/>
                    <a:pt x="4286727" y="698500"/>
                    <a:pt x="4248150" y="698500"/>
                  </a:cubicBezTo>
                  <a:lnTo>
                    <a:pt x="69850" y="698500"/>
                  </a:lnTo>
                  <a:cubicBezTo>
                    <a:pt x="31273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31273" y="0"/>
                    <a:pt x="6985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3180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3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Solicitud atendida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952500" y="6858000"/>
            <a:ext cx="16383000" cy="0"/>
          </a:xfrm>
          <a:prstGeom prst="line">
            <a:avLst/>
          </a:prstGeom>
          <a:ln cap="flat" w="19050">
            <a:solidFill>
              <a:srgbClr val="3F598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857375" y="8001000"/>
            <a:ext cx="3429000" cy="952500"/>
            <a:chOff x="0" y="0"/>
            <a:chExt cx="4572000" cy="127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572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4572000">
                  <a:moveTo>
                    <a:pt x="127000" y="0"/>
                  </a:moveTo>
                  <a:lnTo>
                    <a:pt x="4445000" y="0"/>
                  </a:lnTo>
                  <a:cubicBezTo>
                    <a:pt x="4515140" y="0"/>
                    <a:pt x="4572000" y="56860"/>
                    <a:pt x="4572000" y="127000"/>
                  </a:cubicBezTo>
                  <a:lnTo>
                    <a:pt x="4572000" y="1143000"/>
                  </a:lnTo>
                  <a:cubicBezTo>
                    <a:pt x="4572000" y="1213140"/>
                    <a:pt x="4515140" y="1270000"/>
                    <a:pt x="4445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572000" cy="1317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19"/>
                </a:lnSpc>
                <a:spcBef>
                  <a:spcPct val="0"/>
                </a:spcBef>
              </a:pPr>
              <a:r>
                <a:rPr lang="en-US" sz="22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✔ Organización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572125" y="8001000"/>
            <a:ext cx="3429000" cy="952500"/>
            <a:chOff x="0" y="0"/>
            <a:chExt cx="4572000" cy="1270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72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4572000">
                  <a:moveTo>
                    <a:pt x="127000" y="0"/>
                  </a:moveTo>
                  <a:lnTo>
                    <a:pt x="4445000" y="0"/>
                  </a:lnTo>
                  <a:cubicBezTo>
                    <a:pt x="4515140" y="0"/>
                    <a:pt x="4572000" y="56860"/>
                    <a:pt x="4572000" y="127000"/>
                  </a:cubicBezTo>
                  <a:lnTo>
                    <a:pt x="4572000" y="1143000"/>
                  </a:lnTo>
                  <a:cubicBezTo>
                    <a:pt x="4572000" y="1213140"/>
                    <a:pt x="4515140" y="1270000"/>
                    <a:pt x="4445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572000" cy="1317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19"/>
                </a:lnSpc>
                <a:spcBef>
                  <a:spcPct val="0"/>
                </a:spcBef>
              </a:pPr>
              <a:r>
                <a:rPr lang="en-US" sz="22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✔ Trazabilidad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286875" y="8001000"/>
            <a:ext cx="3429000" cy="952500"/>
            <a:chOff x="0" y="0"/>
            <a:chExt cx="4572000" cy="1270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72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4572000">
                  <a:moveTo>
                    <a:pt x="127000" y="0"/>
                  </a:moveTo>
                  <a:lnTo>
                    <a:pt x="4445000" y="0"/>
                  </a:lnTo>
                  <a:cubicBezTo>
                    <a:pt x="4515140" y="0"/>
                    <a:pt x="4572000" y="56860"/>
                    <a:pt x="4572000" y="127000"/>
                  </a:cubicBezTo>
                  <a:lnTo>
                    <a:pt x="4572000" y="1143000"/>
                  </a:lnTo>
                  <a:cubicBezTo>
                    <a:pt x="4572000" y="1213140"/>
                    <a:pt x="4515140" y="1270000"/>
                    <a:pt x="4445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4572000" cy="1317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19"/>
                </a:lnSpc>
                <a:spcBef>
                  <a:spcPct val="0"/>
                </a:spcBef>
              </a:pPr>
              <a:r>
                <a:rPr lang="en-US" sz="22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✔ Registro automático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001625" y="8001000"/>
            <a:ext cx="3429000" cy="952500"/>
            <a:chOff x="0" y="0"/>
            <a:chExt cx="4572000" cy="1270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72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4572000">
                  <a:moveTo>
                    <a:pt x="127000" y="0"/>
                  </a:moveTo>
                  <a:lnTo>
                    <a:pt x="4445000" y="0"/>
                  </a:lnTo>
                  <a:cubicBezTo>
                    <a:pt x="4515140" y="0"/>
                    <a:pt x="4572000" y="56860"/>
                    <a:pt x="4572000" y="127000"/>
                  </a:cubicBezTo>
                  <a:lnTo>
                    <a:pt x="4572000" y="1143000"/>
                  </a:lnTo>
                  <a:cubicBezTo>
                    <a:pt x="4572000" y="1213140"/>
                    <a:pt x="4515140" y="1270000"/>
                    <a:pt x="4445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4572000" cy="1317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19"/>
                </a:lnSpc>
                <a:spcBef>
                  <a:spcPct val="0"/>
                </a:spcBef>
              </a:pPr>
              <a:r>
                <a:rPr lang="en-US" sz="22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✔ Asignación de tareas</a:t>
              </a:r>
            </a:p>
          </p:txBody>
        </p:sp>
      </p:grp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9286875" y="1631970"/>
            <a:ext cx="7046022" cy="4835505"/>
            <a:chOff x="0" y="0"/>
            <a:chExt cx="12954000" cy="8890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421640" y="394970"/>
              <a:ext cx="12184380" cy="8178800"/>
            </a:xfrm>
            <a:custGeom>
              <a:avLst/>
              <a:gdLst/>
              <a:ahLst/>
              <a:cxnLst/>
              <a:rect r="r" b="b" t="t" l="l"/>
              <a:pathLst>
                <a:path h="8178800" w="12184380">
                  <a:moveTo>
                    <a:pt x="12025630" y="8178800"/>
                  </a:moveTo>
                  <a:lnTo>
                    <a:pt x="157480" y="8178800"/>
                  </a:lnTo>
                  <a:cubicBezTo>
                    <a:pt x="69850" y="8178800"/>
                    <a:pt x="0" y="8107680"/>
                    <a:pt x="0" y="8021319"/>
                  </a:cubicBezTo>
                  <a:lnTo>
                    <a:pt x="0" y="157480"/>
                  </a:lnTo>
                  <a:cubicBezTo>
                    <a:pt x="0" y="69850"/>
                    <a:pt x="71120" y="0"/>
                    <a:pt x="157480" y="0"/>
                  </a:cubicBezTo>
                  <a:lnTo>
                    <a:pt x="12026899" y="0"/>
                  </a:lnTo>
                  <a:cubicBezTo>
                    <a:pt x="12114530" y="0"/>
                    <a:pt x="12184380" y="71120"/>
                    <a:pt x="12184380" y="157480"/>
                  </a:cubicBezTo>
                  <a:lnTo>
                    <a:pt x="12184380" y="8020050"/>
                  </a:lnTo>
                  <a:cubicBezTo>
                    <a:pt x="12183110" y="8108950"/>
                    <a:pt x="12113260" y="8178800"/>
                    <a:pt x="12025630" y="8178800"/>
                  </a:cubicBezTo>
                  <a:close/>
                </a:path>
              </a:pathLst>
            </a:custGeom>
            <a:blipFill>
              <a:blip r:embed="rId2"/>
              <a:stretch>
                <a:fillRect l="-9524" t="0" r="-9809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954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12954000">
                  <a:moveTo>
                    <a:pt x="0" y="0"/>
                  </a:moveTo>
                  <a:lnTo>
                    <a:pt x="12954000" y="0"/>
                  </a:lnTo>
                  <a:lnTo>
                    <a:pt x="12954000" y="8890000"/>
                  </a:lnTo>
                  <a:lnTo>
                    <a:pt x="0" y="8890000"/>
                  </a:lnTo>
                  <a:close/>
                </a:path>
              </a:pathLst>
            </a:custGeom>
          </p:spPr>
        </p:sp>
      </p:grpSp>
      <p:sp>
        <p:nvSpPr>
          <p:cNvPr name="TextBox 41" id="41"/>
          <p:cNvSpPr txBox="true"/>
          <p:nvPr/>
        </p:nvSpPr>
        <p:spPr>
          <a:xfrm rot="0">
            <a:off x="6286500" y="490030"/>
            <a:ext cx="5715000" cy="752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18"/>
              </a:lnSpc>
              <a:spcBef>
                <a:spcPct val="0"/>
              </a:spcBef>
            </a:pPr>
            <a:r>
              <a:rPr lang="en-US" sz="5289" strike="noStrike" u="none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Solución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239000" y="7019925"/>
            <a:ext cx="38100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3999" strike="noStrike" u="none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Beneficios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13704204" y="152400"/>
            <a:ext cx="4393296" cy="1098324"/>
          </a:xfrm>
          <a:custGeom>
            <a:avLst/>
            <a:gdLst/>
            <a:ahLst/>
            <a:cxnLst/>
            <a:rect r="r" b="b" t="t" l="l"/>
            <a:pathLst>
              <a:path h="1098324" w="4393296">
                <a:moveTo>
                  <a:pt x="0" y="0"/>
                </a:moveTo>
                <a:lnTo>
                  <a:pt x="4393296" y="0"/>
                </a:lnTo>
                <a:lnTo>
                  <a:pt x="4393296" y="1098324"/>
                </a:lnTo>
                <a:lnTo>
                  <a:pt x="0" y="1098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000" y="517934"/>
            <a:ext cx="7620000" cy="73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19"/>
              </a:lnSpc>
              <a:spcBef>
                <a:spcPct val="0"/>
              </a:spcBef>
            </a:pPr>
            <a:r>
              <a:rPr lang="en-US" sz="5199" strike="noStrike" u="none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Objetivo General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86000" y="1448401"/>
            <a:ext cx="13525500" cy="1841280"/>
            <a:chOff x="0" y="0"/>
            <a:chExt cx="17780000" cy="24204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780000" cy="2420462"/>
            </a:xfrm>
            <a:custGeom>
              <a:avLst/>
              <a:gdLst/>
              <a:ahLst/>
              <a:cxnLst/>
              <a:rect r="r" b="b" t="t" l="l"/>
              <a:pathLst>
                <a:path h="2420462" w="17780000">
                  <a:moveTo>
                    <a:pt x="203200" y="0"/>
                  </a:moveTo>
                  <a:lnTo>
                    <a:pt x="17576800" y="0"/>
                  </a:lnTo>
                  <a:cubicBezTo>
                    <a:pt x="17689024" y="0"/>
                    <a:pt x="17780000" y="108368"/>
                    <a:pt x="17780000" y="242046"/>
                  </a:cubicBezTo>
                  <a:lnTo>
                    <a:pt x="17780000" y="2178416"/>
                  </a:lnTo>
                  <a:cubicBezTo>
                    <a:pt x="17780000" y="2312095"/>
                    <a:pt x="17689024" y="2420462"/>
                    <a:pt x="17576800" y="2420462"/>
                  </a:cubicBezTo>
                  <a:lnTo>
                    <a:pt x="203200" y="2420462"/>
                  </a:lnTo>
                  <a:cubicBezTo>
                    <a:pt x="90976" y="2420462"/>
                    <a:pt x="0" y="2312095"/>
                    <a:pt x="0" y="2178416"/>
                  </a:cubicBezTo>
                  <a:lnTo>
                    <a:pt x="0" y="242046"/>
                  </a:lnTo>
                  <a:cubicBezTo>
                    <a:pt x="0" y="10836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780000" cy="2468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3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Desarrollar un sistema web y móvil que permita gestionar de forma eficiente las solicitudes de atención en hogares de adultos mayores, mejorando la trazabilidad, organización y calidad del servicio.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86000" y="7864644"/>
            <a:ext cx="3048000" cy="2164172"/>
            <a:chOff x="0" y="0"/>
            <a:chExt cx="4064000" cy="28855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0" cy="2885562"/>
            </a:xfrm>
            <a:custGeom>
              <a:avLst/>
              <a:gdLst/>
              <a:ahLst/>
              <a:cxnLst/>
              <a:rect r="r" b="b" t="t" l="l"/>
              <a:pathLst>
                <a:path h="2885562" w="4064000">
                  <a:moveTo>
                    <a:pt x="406400" y="0"/>
                  </a:moveTo>
                  <a:lnTo>
                    <a:pt x="3657600" y="0"/>
                  </a:lnTo>
                  <a:cubicBezTo>
                    <a:pt x="3882049" y="0"/>
                    <a:pt x="4064000" y="129191"/>
                    <a:pt x="4064000" y="288556"/>
                  </a:cubicBezTo>
                  <a:lnTo>
                    <a:pt x="4064000" y="2597006"/>
                  </a:lnTo>
                  <a:cubicBezTo>
                    <a:pt x="4064000" y="2756371"/>
                    <a:pt x="3882049" y="2885562"/>
                    <a:pt x="3657600" y="2885562"/>
                  </a:cubicBezTo>
                  <a:lnTo>
                    <a:pt x="406400" y="2885562"/>
                  </a:lnTo>
                  <a:cubicBezTo>
                    <a:pt x="181951" y="2885562"/>
                    <a:pt x="0" y="2756371"/>
                    <a:pt x="0" y="2597006"/>
                  </a:cubicBezTo>
                  <a:lnTo>
                    <a:pt x="0" y="288556"/>
                  </a:lnTo>
                  <a:cubicBezTo>
                    <a:pt x="0" y="12919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5DD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064000" cy="2933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333750" y="8067301"/>
            <a:ext cx="762000" cy="857250"/>
            <a:chOff x="0" y="0"/>
            <a:chExt cx="1016000" cy="1143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6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16000">
                  <a:moveTo>
                    <a:pt x="508000" y="0"/>
                  </a:moveTo>
                  <a:cubicBezTo>
                    <a:pt x="227439" y="0"/>
                    <a:pt x="0" y="255869"/>
                    <a:pt x="0" y="571500"/>
                  </a:cubicBezTo>
                  <a:cubicBezTo>
                    <a:pt x="0" y="887131"/>
                    <a:pt x="227439" y="1143000"/>
                    <a:pt x="508000" y="1143000"/>
                  </a:cubicBezTo>
                  <a:cubicBezTo>
                    <a:pt x="788561" y="1143000"/>
                    <a:pt x="1016000" y="887131"/>
                    <a:pt x="1016000" y="571500"/>
                  </a:cubicBezTo>
                  <a:cubicBezTo>
                    <a:pt x="1016000" y="25586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016000" cy="121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179"/>
                </a:lnSpc>
                <a:spcBef>
                  <a:spcPct val="0"/>
                </a:spcBef>
              </a:pPr>
              <a:r>
                <a:rPr lang="en-US" sz="36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📱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286000" y="9068696"/>
            <a:ext cx="28575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1020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Registrar solicitudes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715000" y="7864644"/>
            <a:ext cx="3048000" cy="2164172"/>
            <a:chOff x="0" y="0"/>
            <a:chExt cx="4064000" cy="28855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0" cy="2885562"/>
            </a:xfrm>
            <a:custGeom>
              <a:avLst/>
              <a:gdLst/>
              <a:ahLst/>
              <a:cxnLst/>
              <a:rect r="r" b="b" t="t" l="l"/>
              <a:pathLst>
                <a:path h="2885562" w="4064000">
                  <a:moveTo>
                    <a:pt x="406400" y="0"/>
                  </a:moveTo>
                  <a:lnTo>
                    <a:pt x="3657600" y="0"/>
                  </a:lnTo>
                  <a:cubicBezTo>
                    <a:pt x="3882049" y="0"/>
                    <a:pt x="4064000" y="129191"/>
                    <a:pt x="4064000" y="288556"/>
                  </a:cubicBezTo>
                  <a:lnTo>
                    <a:pt x="4064000" y="2597006"/>
                  </a:lnTo>
                  <a:cubicBezTo>
                    <a:pt x="4064000" y="2756371"/>
                    <a:pt x="3882049" y="2885562"/>
                    <a:pt x="3657600" y="2885562"/>
                  </a:cubicBezTo>
                  <a:lnTo>
                    <a:pt x="406400" y="2885562"/>
                  </a:lnTo>
                  <a:cubicBezTo>
                    <a:pt x="181951" y="2885562"/>
                    <a:pt x="0" y="2756371"/>
                    <a:pt x="0" y="2597006"/>
                  </a:cubicBezTo>
                  <a:lnTo>
                    <a:pt x="0" y="288556"/>
                  </a:lnTo>
                  <a:cubicBezTo>
                    <a:pt x="0" y="12919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5DD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064000" cy="2933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953250" y="8067301"/>
            <a:ext cx="762000" cy="857250"/>
            <a:chOff x="0" y="0"/>
            <a:chExt cx="1016000" cy="114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6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16000">
                  <a:moveTo>
                    <a:pt x="508000" y="0"/>
                  </a:moveTo>
                  <a:cubicBezTo>
                    <a:pt x="227439" y="0"/>
                    <a:pt x="0" y="255869"/>
                    <a:pt x="0" y="571500"/>
                  </a:cubicBezTo>
                  <a:cubicBezTo>
                    <a:pt x="0" y="887131"/>
                    <a:pt x="227439" y="1143000"/>
                    <a:pt x="508000" y="1143000"/>
                  </a:cubicBezTo>
                  <a:cubicBezTo>
                    <a:pt x="788561" y="1143000"/>
                    <a:pt x="1016000" y="887131"/>
                    <a:pt x="1016000" y="571500"/>
                  </a:cubicBezTo>
                  <a:cubicBezTo>
                    <a:pt x="1016000" y="25586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1016000" cy="121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179"/>
                </a:lnSpc>
                <a:spcBef>
                  <a:spcPct val="0"/>
                </a:spcBef>
              </a:pPr>
              <a:r>
                <a:rPr lang="en-US" sz="36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👨‍⚕️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905500" y="9263958"/>
            <a:ext cx="285750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1020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Asignar personal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34500" y="7864644"/>
            <a:ext cx="3238500" cy="2164172"/>
            <a:chOff x="0" y="0"/>
            <a:chExt cx="4318000" cy="28855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18000" cy="2885562"/>
            </a:xfrm>
            <a:custGeom>
              <a:avLst/>
              <a:gdLst/>
              <a:ahLst/>
              <a:cxnLst/>
              <a:rect r="r" b="b" t="t" l="l"/>
              <a:pathLst>
                <a:path h="2885562" w="4318000">
                  <a:moveTo>
                    <a:pt x="431800" y="0"/>
                  </a:moveTo>
                  <a:lnTo>
                    <a:pt x="3886200" y="0"/>
                  </a:lnTo>
                  <a:cubicBezTo>
                    <a:pt x="4124677" y="0"/>
                    <a:pt x="4318000" y="129191"/>
                    <a:pt x="4318000" y="288556"/>
                  </a:cubicBezTo>
                  <a:lnTo>
                    <a:pt x="4318000" y="2597006"/>
                  </a:lnTo>
                  <a:cubicBezTo>
                    <a:pt x="4318000" y="2756371"/>
                    <a:pt x="4124677" y="2885562"/>
                    <a:pt x="3886200" y="2885562"/>
                  </a:cubicBezTo>
                  <a:lnTo>
                    <a:pt x="431800" y="2885562"/>
                  </a:lnTo>
                  <a:cubicBezTo>
                    <a:pt x="193323" y="2885562"/>
                    <a:pt x="0" y="2756371"/>
                    <a:pt x="0" y="2597006"/>
                  </a:cubicBezTo>
                  <a:lnTo>
                    <a:pt x="0" y="288556"/>
                  </a:lnTo>
                  <a:cubicBezTo>
                    <a:pt x="0" y="129191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5D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318000" cy="2933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572750" y="8067301"/>
            <a:ext cx="762000" cy="857250"/>
            <a:chOff x="0" y="0"/>
            <a:chExt cx="1016000" cy="1143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6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16000">
                  <a:moveTo>
                    <a:pt x="508000" y="0"/>
                  </a:moveTo>
                  <a:cubicBezTo>
                    <a:pt x="227439" y="0"/>
                    <a:pt x="0" y="255869"/>
                    <a:pt x="0" y="571500"/>
                  </a:cubicBezTo>
                  <a:cubicBezTo>
                    <a:pt x="0" y="887131"/>
                    <a:pt x="227439" y="1143000"/>
                    <a:pt x="508000" y="1143000"/>
                  </a:cubicBezTo>
                  <a:cubicBezTo>
                    <a:pt x="788561" y="1143000"/>
                    <a:pt x="1016000" y="887131"/>
                    <a:pt x="1016000" y="571500"/>
                  </a:cubicBezTo>
                  <a:cubicBezTo>
                    <a:pt x="1016000" y="25586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1016000" cy="121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179"/>
                </a:lnSpc>
                <a:spcBef>
                  <a:spcPct val="0"/>
                </a:spcBef>
              </a:pPr>
              <a:r>
                <a:rPr lang="en-US" sz="36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📈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525000" y="9263958"/>
            <a:ext cx="285750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1020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Medir tiempos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954000" y="7864644"/>
            <a:ext cx="3348953" cy="2164172"/>
            <a:chOff x="0" y="0"/>
            <a:chExt cx="4744350" cy="30659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44350" cy="3065910"/>
            </a:xfrm>
            <a:custGeom>
              <a:avLst/>
              <a:gdLst/>
              <a:ahLst/>
              <a:cxnLst/>
              <a:rect r="r" b="b" t="t" l="l"/>
              <a:pathLst>
                <a:path h="3065910" w="4744350">
                  <a:moveTo>
                    <a:pt x="474435" y="0"/>
                  </a:moveTo>
                  <a:lnTo>
                    <a:pt x="4269915" y="0"/>
                  </a:lnTo>
                  <a:cubicBezTo>
                    <a:pt x="4531938" y="0"/>
                    <a:pt x="4744350" y="137265"/>
                    <a:pt x="4744350" y="306591"/>
                  </a:cubicBezTo>
                  <a:lnTo>
                    <a:pt x="4744350" y="2759319"/>
                  </a:lnTo>
                  <a:cubicBezTo>
                    <a:pt x="4744350" y="2928644"/>
                    <a:pt x="4531938" y="3065910"/>
                    <a:pt x="4269915" y="3065910"/>
                  </a:cubicBezTo>
                  <a:lnTo>
                    <a:pt x="474435" y="3065910"/>
                  </a:lnTo>
                  <a:cubicBezTo>
                    <a:pt x="212412" y="3065910"/>
                    <a:pt x="0" y="2928644"/>
                    <a:pt x="0" y="2759319"/>
                  </a:cubicBezTo>
                  <a:lnTo>
                    <a:pt x="0" y="306591"/>
                  </a:lnTo>
                  <a:cubicBezTo>
                    <a:pt x="0" y="137265"/>
                    <a:pt x="212412" y="0"/>
                    <a:pt x="474435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5DD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4744350" cy="3113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192250" y="8067301"/>
            <a:ext cx="762000" cy="857250"/>
            <a:chOff x="0" y="0"/>
            <a:chExt cx="1016000" cy="1143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16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16000">
                  <a:moveTo>
                    <a:pt x="508000" y="0"/>
                  </a:moveTo>
                  <a:cubicBezTo>
                    <a:pt x="227439" y="0"/>
                    <a:pt x="0" y="255869"/>
                    <a:pt x="0" y="571500"/>
                  </a:cubicBezTo>
                  <a:cubicBezTo>
                    <a:pt x="0" y="887131"/>
                    <a:pt x="227439" y="1143000"/>
                    <a:pt x="508000" y="1143000"/>
                  </a:cubicBezTo>
                  <a:cubicBezTo>
                    <a:pt x="788561" y="1143000"/>
                    <a:pt x="1016000" y="887131"/>
                    <a:pt x="1016000" y="571500"/>
                  </a:cubicBezTo>
                  <a:cubicBezTo>
                    <a:pt x="1016000" y="25586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1016000" cy="121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179"/>
                </a:lnSpc>
                <a:spcBef>
                  <a:spcPct val="0"/>
                </a:spcBef>
              </a:pPr>
              <a:r>
                <a:rPr lang="en-US" sz="36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📋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3144500" y="9263958"/>
            <a:ext cx="285750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1020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Mantener historial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3704204" y="152400"/>
            <a:ext cx="4393296" cy="1098324"/>
          </a:xfrm>
          <a:custGeom>
            <a:avLst/>
            <a:gdLst/>
            <a:ahLst/>
            <a:cxnLst/>
            <a:rect r="r" b="b" t="t" l="l"/>
            <a:pathLst>
              <a:path h="1098324" w="4393296">
                <a:moveTo>
                  <a:pt x="0" y="0"/>
                </a:moveTo>
                <a:lnTo>
                  <a:pt x="4393296" y="0"/>
                </a:lnTo>
                <a:lnTo>
                  <a:pt x="4393296" y="1098324"/>
                </a:lnTo>
                <a:lnTo>
                  <a:pt x="0" y="1098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2286000" y="4279646"/>
            <a:ext cx="13525500" cy="3213523"/>
            <a:chOff x="0" y="0"/>
            <a:chExt cx="17780000" cy="422434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780000" cy="4224349"/>
            </a:xfrm>
            <a:custGeom>
              <a:avLst/>
              <a:gdLst/>
              <a:ahLst/>
              <a:cxnLst/>
              <a:rect r="r" b="b" t="t" l="l"/>
              <a:pathLst>
                <a:path h="4224349" w="17780000">
                  <a:moveTo>
                    <a:pt x="203200" y="0"/>
                  </a:moveTo>
                  <a:lnTo>
                    <a:pt x="17576800" y="0"/>
                  </a:lnTo>
                  <a:cubicBezTo>
                    <a:pt x="17689024" y="0"/>
                    <a:pt x="17780000" y="189131"/>
                    <a:pt x="17780000" y="422435"/>
                  </a:cubicBezTo>
                  <a:lnTo>
                    <a:pt x="17780000" y="3801914"/>
                  </a:lnTo>
                  <a:cubicBezTo>
                    <a:pt x="17780000" y="4035219"/>
                    <a:pt x="17689024" y="4224349"/>
                    <a:pt x="17576800" y="4224349"/>
                  </a:cubicBezTo>
                  <a:lnTo>
                    <a:pt x="203200" y="4224349"/>
                  </a:lnTo>
                  <a:cubicBezTo>
                    <a:pt x="90976" y="4224349"/>
                    <a:pt x="0" y="4035219"/>
                    <a:pt x="0" y="3801914"/>
                  </a:cubicBezTo>
                  <a:lnTo>
                    <a:pt x="0" y="422435"/>
                  </a:lnTo>
                  <a:cubicBezTo>
                    <a:pt x="0" y="18913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7780000" cy="4271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Reducir en un 30% el tiempo promedio de espera de atención de los residentes durante el primer mes de implementación del sistema.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Permitir que el 100% de las solicitudes puedan ser creadas, asignadas, atendidas y finalizadas durante primer mes de implementación.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Registrar el 100% de las solicitudes de atención con fecha y hora de creación, aceptación y finalización durante el primer mes de implementación.</a:t>
              </a:r>
            </a:p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5334000" y="3546856"/>
            <a:ext cx="7620000" cy="73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19"/>
              </a:lnSpc>
              <a:spcBef>
                <a:spcPct val="0"/>
              </a:spcBef>
            </a:pPr>
            <a:r>
              <a:rPr lang="en-US" sz="5199" strike="noStrike" u="none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Objetivos Específicos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86500" y="719455"/>
            <a:ext cx="5715000" cy="73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19"/>
              </a:lnSpc>
              <a:spcBef>
                <a:spcPct val="0"/>
              </a:spcBef>
            </a:pPr>
            <a:r>
              <a:rPr lang="en-US" sz="5199" strike="noStrike" u="none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Alcances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2057400"/>
            <a:ext cx="7905750" cy="7143750"/>
            <a:chOff x="0" y="0"/>
            <a:chExt cx="10541000" cy="952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541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10541000">
                  <a:moveTo>
                    <a:pt x="952500" y="0"/>
                  </a:moveTo>
                  <a:lnTo>
                    <a:pt x="9588500" y="0"/>
                  </a:lnTo>
                  <a:cubicBezTo>
                    <a:pt x="10114552" y="0"/>
                    <a:pt x="10541000" y="426449"/>
                    <a:pt x="10541000" y="952500"/>
                  </a:cubicBezTo>
                  <a:lnTo>
                    <a:pt x="10541000" y="8572500"/>
                  </a:lnTo>
                  <a:cubicBezTo>
                    <a:pt x="10541000" y="9098552"/>
                    <a:pt x="10114552" y="9525000"/>
                    <a:pt x="9588500" y="9525000"/>
                  </a:cubicBezTo>
                  <a:lnTo>
                    <a:pt x="952500" y="9525000"/>
                  </a:lnTo>
                  <a:cubicBezTo>
                    <a:pt x="426449" y="9525000"/>
                    <a:pt x="0" y="9098552"/>
                    <a:pt x="0" y="8572500"/>
                  </a:cubicBezTo>
                  <a:lnTo>
                    <a:pt x="0" y="952500"/>
                  </a:ln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3F5984"/>
            </a:solidFill>
            <a:ln w="9525" cap="sq">
              <a:solidFill>
                <a:srgbClr val="D0D5DD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541000" cy="956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38250" y="2328862"/>
            <a:ext cx="733425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Alcances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2125" y="3365818"/>
            <a:ext cx="71437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D8E2F1"/>
                </a:solidFill>
                <a:latin typeface="Open Sauce"/>
                <a:ea typeface="Open Sauce"/>
                <a:cs typeface="Open Sauce"/>
                <a:sym typeface="Open Sauce"/>
              </a:rPr>
              <a:t>✅ Registro de usuarios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2125" y="4032568"/>
            <a:ext cx="71437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D8E2F1"/>
                </a:solidFill>
                <a:latin typeface="Open Sauce"/>
                <a:ea typeface="Open Sauce"/>
                <a:cs typeface="Open Sauce"/>
                <a:sym typeface="Open Sauce"/>
              </a:rPr>
              <a:t>✅ Login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2125" y="4699318"/>
            <a:ext cx="71437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D8E2F1"/>
                </a:solidFill>
                <a:latin typeface="Open Sauce"/>
                <a:ea typeface="Open Sauce"/>
                <a:cs typeface="Open Sauce"/>
                <a:sym typeface="Open Sauce"/>
              </a:rPr>
              <a:t>✅ Crear solicitudes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62125" y="5366068"/>
            <a:ext cx="71437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D8E2F1"/>
                </a:solidFill>
                <a:latin typeface="Open Sauce"/>
                <a:ea typeface="Open Sauce"/>
                <a:cs typeface="Open Sauce"/>
                <a:sym typeface="Open Sauce"/>
              </a:rPr>
              <a:t>✅ Gestión de estados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62125" y="6032818"/>
            <a:ext cx="71437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D8E2F1"/>
                </a:solidFill>
                <a:latin typeface="Open Sauce"/>
                <a:ea typeface="Open Sauce"/>
                <a:cs typeface="Open Sauce"/>
                <a:sym typeface="Open Sauce"/>
              </a:rPr>
              <a:t>✅ Historial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62125" y="6699568"/>
            <a:ext cx="71437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D8E2F1"/>
                </a:solidFill>
                <a:latin typeface="Open Sauce"/>
                <a:ea typeface="Open Sauce"/>
                <a:cs typeface="Open Sauce"/>
                <a:sym typeface="Open Sauce"/>
              </a:rPr>
              <a:t>✅ Tiempo de atención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62125" y="7366318"/>
            <a:ext cx="71437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D8E2F1"/>
                </a:solidFill>
                <a:latin typeface="Open Sauce"/>
                <a:ea typeface="Open Sauce"/>
                <a:cs typeface="Open Sauce"/>
                <a:sym typeface="Open Sauce"/>
              </a:rPr>
              <a:t>✅ Asignación de tareas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29750" y="2057400"/>
            <a:ext cx="7905750" cy="7143750"/>
            <a:chOff x="0" y="0"/>
            <a:chExt cx="10541000" cy="952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41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10541000">
                  <a:moveTo>
                    <a:pt x="952500" y="0"/>
                  </a:moveTo>
                  <a:lnTo>
                    <a:pt x="9588500" y="0"/>
                  </a:lnTo>
                  <a:cubicBezTo>
                    <a:pt x="10114552" y="0"/>
                    <a:pt x="10541000" y="426449"/>
                    <a:pt x="10541000" y="952500"/>
                  </a:cubicBezTo>
                  <a:lnTo>
                    <a:pt x="10541000" y="8572500"/>
                  </a:lnTo>
                  <a:cubicBezTo>
                    <a:pt x="10541000" y="9098552"/>
                    <a:pt x="10114552" y="9525000"/>
                    <a:pt x="9588500" y="9525000"/>
                  </a:cubicBezTo>
                  <a:lnTo>
                    <a:pt x="952500" y="9525000"/>
                  </a:lnTo>
                  <a:cubicBezTo>
                    <a:pt x="426449" y="9525000"/>
                    <a:pt x="0" y="9098552"/>
                    <a:pt x="0" y="8572500"/>
                  </a:cubicBezTo>
                  <a:lnTo>
                    <a:pt x="0" y="952500"/>
                  </a:ln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3F5984"/>
            </a:solidFill>
            <a:ln w="9525" cap="sq">
              <a:solidFill>
                <a:srgbClr val="D0D5D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541000" cy="956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715500" y="2328862"/>
            <a:ext cx="733425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Limitaciones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32329" y="3365818"/>
            <a:ext cx="71437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D8E2F1"/>
                </a:solidFill>
                <a:latin typeface="Open Sauce"/>
                <a:ea typeface="Open Sauce"/>
                <a:cs typeface="Open Sauce"/>
                <a:sym typeface="Open Sauce"/>
              </a:rPr>
              <a:t>⚠ Solo un hogar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15550" y="3853498"/>
            <a:ext cx="71437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D8E2F1"/>
                </a:solidFill>
                <a:latin typeface="Open Sauce"/>
                <a:ea typeface="Open Sauce"/>
                <a:cs typeface="Open Sauce"/>
                <a:sym typeface="Open Sauce"/>
              </a:rPr>
              <a:t>⚠ No implementado en producción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3704204" y="152400"/>
            <a:ext cx="4393296" cy="1098324"/>
          </a:xfrm>
          <a:custGeom>
            <a:avLst/>
            <a:gdLst/>
            <a:ahLst/>
            <a:cxnLst/>
            <a:rect r="r" b="b" t="t" l="l"/>
            <a:pathLst>
              <a:path h="1098324" w="4393296">
                <a:moveTo>
                  <a:pt x="0" y="0"/>
                </a:moveTo>
                <a:lnTo>
                  <a:pt x="4393296" y="0"/>
                </a:lnTo>
                <a:lnTo>
                  <a:pt x="4393296" y="1098324"/>
                </a:lnTo>
                <a:lnTo>
                  <a:pt x="0" y="1098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572500" y="2850039"/>
            <a:ext cx="1143000" cy="0"/>
          </a:xfrm>
          <a:prstGeom prst="line">
            <a:avLst/>
          </a:prstGeom>
          <a:ln cap="flat" w="28575">
            <a:solidFill>
              <a:srgbClr val="2A3A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6286500" y="2345214"/>
            <a:ext cx="571500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3F5984"/>
                </a:solidFill>
                <a:latin typeface="Open Sauce"/>
                <a:ea typeface="Open Sauce"/>
                <a:cs typeface="Open Sauce"/>
                <a:sym typeface="Open Sauce"/>
              </a:rPr>
              <a:t>Metodología Ágil – Scrum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57750" y="1221899"/>
            <a:ext cx="8572500" cy="73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19"/>
              </a:lnSpc>
              <a:spcBef>
                <a:spcPct val="0"/>
              </a:spcBef>
            </a:pPr>
            <a:r>
              <a:rPr lang="en-US" sz="5199" strike="noStrike" u="none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Metodología de Trabajo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43000" y="3400425"/>
            <a:ext cx="5010150" cy="4286250"/>
            <a:chOff x="0" y="0"/>
            <a:chExt cx="6680200" cy="5715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80200" cy="5715000"/>
            </a:xfrm>
            <a:custGeom>
              <a:avLst/>
              <a:gdLst/>
              <a:ahLst/>
              <a:cxnLst/>
              <a:rect r="r" b="b" t="t" l="l"/>
              <a:pathLst>
                <a:path h="5715000" w="6680200">
                  <a:moveTo>
                    <a:pt x="571500" y="0"/>
                  </a:moveTo>
                  <a:lnTo>
                    <a:pt x="6108700" y="0"/>
                  </a:lnTo>
                  <a:cubicBezTo>
                    <a:pt x="6424331" y="0"/>
                    <a:pt x="6680200" y="255869"/>
                    <a:pt x="6680200" y="571500"/>
                  </a:cubicBezTo>
                  <a:lnTo>
                    <a:pt x="6680200" y="5143500"/>
                  </a:lnTo>
                  <a:cubicBezTo>
                    <a:pt x="6680200" y="5459131"/>
                    <a:pt x="6424331" y="5715000"/>
                    <a:pt x="6108700" y="5715000"/>
                  </a:cubicBezTo>
                  <a:lnTo>
                    <a:pt x="571500" y="5715000"/>
                  </a:lnTo>
                  <a:cubicBezTo>
                    <a:pt x="255869" y="5715000"/>
                    <a:pt x="0" y="5459131"/>
                    <a:pt x="0" y="5143500"/>
                  </a:cubicBezTo>
                  <a:lnTo>
                    <a:pt x="0" y="571500"/>
                  </a:lnTo>
                  <a:cubicBezTo>
                    <a:pt x="0" y="255869"/>
                    <a:pt x="255869" y="0"/>
                    <a:pt x="571500" y="0"/>
                  </a:cubicBezTo>
                  <a:close/>
                </a:path>
              </a:pathLst>
            </a:custGeom>
            <a:solidFill>
              <a:srgbClr val="3F5984"/>
            </a:solidFill>
            <a:ln w="9525" cap="sq">
              <a:solidFill>
                <a:srgbClr val="3F5984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80200" cy="575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3400425"/>
            <a:ext cx="5010150" cy="57150"/>
            <a:chOff x="0" y="0"/>
            <a:chExt cx="6680200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80200" cy="76200"/>
            </a:xfrm>
            <a:custGeom>
              <a:avLst/>
              <a:gdLst/>
              <a:ahLst/>
              <a:cxnLst/>
              <a:rect r="r" b="b" t="t" l="l"/>
              <a:pathLst>
                <a:path h="76200" w="6680200">
                  <a:moveTo>
                    <a:pt x="0" y="0"/>
                  </a:moveTo>
                  <a:lnTo>
                    <a:pt x="6680200" y="0"/>
                  </a:lnTo>
                  <a:lnTo>
                    <a:pt x="6680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A2A4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680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314700" y="3876675"/>
            <a:ext cx="666750" cy="723900"/>
            <a:chOff x="0" y="0"/>
            <a:chExt cx="889000" cy="965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89000" cy="965200"/>
            </a:xfrm>
            <a:custGeom>
              <a:avLst/>
              <a:gdLst/>
              <a:ahLst/>
              <a:cxnLst/>
              <a:rect r="r" b="b" t="t" l="l"/>
              <a:pathLst>
                <a:path h="965200" w="889000">
                  <a:moveTo>
                    <a:pt x="444500" y="0"/>
                  </a:moveTo>
                  <a:cubicBezTo>
                    <a:pt x="199009" y="0"/>
                    <a:pt x="0" y="216067"/>
                    <a:pt x="0" y="482600"/>
                  </a:cubicBezTo>
                  <a:cubicBezTo>
                    <a:pt x="0" y="749133"/>
                    <a:pt x="199009" y="965200"/>
                    <a:pt x="444500" y="965200"/>
                  </a:cubicBezTo>
                  <a:cubicBezTo>
                    <a:pt x="689991" y="965200"/>
                    <a:pt x="889000" y="749133"/>
                    <a:pt x="889000" y="482600"/>
                  </a:cubicBezTo>
                  <a:cubicBezTo>
                    <a:pt x="889000" y="216067"/>
                    <a:pt x="689991" y="0"/>
                    <a:pt x="444500" y="0"/>
                  </a:cubicBezTo>
                  <a:close/>
                </a:path>
              </a:pathLst>
            </a:custGeom>
            <a:solidFill>
              <a:srgbClr val="1A2A4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889000" cy="1031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4FC3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✔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28750" y="4848225"/>
            <a:ext cx="443865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Mayor flexibilidad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524000" y="5591175"/>
            <a:ext cx="4248150" cy="0"/>
          </a:xfrm>
          <a:prstGeom prst="line">
            <a:avLst/>
          </a:prstGeom>
          <a:ln cap="flat" w="9525">
            <a:solidFill>
              <a:srgbClr val="2A3A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428750" y="5786437"/>
            <a:ext cx="4438650" cy="90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679"/>
              </a:lnSpc>
              <a:buFont typeface="Arial"/>
              <a:buChar char="•"/>
            </a:pPr>
            <a:r>
              <a:rPr lang="en-US" sz="2299" strike="noStrike" u="none">
                <a:solidFill>
                  <a:srgbClr val="D8DFEA"/>
                </a:solidFill>
                <a:latin typeface="Open Sauce"/>
                <a:ea typeface="Open Sauce"/>
                <a:cs typeface="Open Sauce"/>
                <a:sym typeface="Open Sauce"/>
              </a:rPr>
              <a:t>Adaptación a cambios durante el desarrollo.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629400" y="3400425"/>
            <a:ext cx="5010150" cy="4286250"/>
            <a:chOff x="0" y="0"/>
            <a:chExt cx="6680200" cy="5715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80200" cy="5715000"/>
            </a:xfrm>
            <a:custGeom>
              <a:avLst/>
              <a:gdLst/>
              <a:ahLst/>
              <a:cxnLst/>
              <a:rect r="r" b="b" t="t" l="l"/>
              <a:pathLst>
                <a:path h="5715000" w="6680200">
                  <a:moveTo>
                    <a:pt x="571500" y="0"/>
                  </a:moveTo>
                  <a:lnTo>
                    <a:pt x="6108700" y="0"/>
                  </a:lnTo>
                  <a:cubicBezTo>
                    <a:pt x="6424331" y="0"/>
                    <a:pt x="6680200" y="255869"/>
                    <a:pt x="6680200" y="571500"/>
                  </a:cubicBezTo>
                  <a:lnTo>
                    <a:pt x="6680200" y="5143500"/>
                  </a:lnTo>
                  <a:cubicBezTo>
                    <a:pt x="6680200" y="5459131"/>
                    <a:pt x="6424331" y="5715000"/>
                    <a:pt x="6108700" y="5715000"/>
                  </a:cubicBezTo>
                  <a:lnTo>
                    <a:pt x="571500" y="5715000"/>
                  </a:lnTo>
                  <a:cubicBezTo>
                    <a:pt x="255869" y="5715000"/>
                    <a:pt x="0" y="5459131"/>
                    <a:pt x="0" y="5143500"/>
                  </a:cubicBezTo>
                  <a:lnTo>
                    <a:pt x="0" y="571500"/>
                  </a:lnTo>
                  <a:cubicBezTo>
                    <a:pt x="0" y="255869"/>
                    <a:pt x="255869" y="0"/>
                    <a:pt x="571500" y="0"/>
                  </a:cubicBezTo>
                  <a:close/>
                </a:path>
              </a:pathLst>
            </a:custGeom>
            <a:solidFill>
              <a:srgbClr val="3F5984"/>
            </a:solidFill>
            <a:ln w="9525" cap="sq">
              <a:solidFill>
                <a:srgbClr val="2A3A5A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680200" cy="575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29400" y="3400425"/>
            <a:ext cx="5010150" cy="57150"/>
            <a:chOff x="0" y="0"/>
            <a:chExt cx="6680200" cy="76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80200" cy="76200"/>
            </a:xfrm>
            <a:custGeom>
              <a:avLst/>
              <a:gdLst/>
              <a:ahLst/>
              <a:cxnLst/>
              <a:rect r="r" b="b" t="t" l="l"/>
              <a:pathLst>
                <a:path h="76200" w="6680200">
                  <a:moveTo>
                    <a:pt x="0" y="0"/>
                  </a:moveTo>
                  <a:lnTo>
                    <a:pt x="6680200" y="0"/>
                  </a:lnTo>
                  <a:lnTo>
                    <a:pt x="6680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A2A4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680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801100" y="3876675"/>
            <a:ext cx="666750" cy="723900"/>
            <a:chOff x="0" y="0"/>
            <a:chExt cx="889000" cy="965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89000" cy="965200"/>
            </a:xfrm>
            <a:custGeom>
              <a:avLst/>
              <a:gdLst/>
              <a:ahLst/>
              <a:cxnLst/>
              <a:rect r="r" b="b" t="t" l="l"/>
              <a:pathLst>
                <a:path h="965200" w="889000">
                  <a:moveTo>
                    <a:pt x="444500" y="0"/>
                  </a:moveTo>
                  <a:cubicBezTo>
                    <a:pt x="199009" y="0"/>
                    <a:pt x="0" y="216067"/>
                    <a:pt x="0" y="482600"/>
                  </a:cubicBezTo>
                  <a:cubicBezTo>
                    <a:pt x="0" y="749133"/>
                    <a:pt x="199009" y="965200"/>
                    <a:pt x="444500" y="965200"/>
                  </a:cubicBezTo>
                  <a:cubicBezTo>
                    <a:pt x="689991" y="965200"/>
                    <a:pt x="889000" y="749133"/>
                    <a:pt x="889000" y="482600"/>
                  </a:cubicBezTo>
                  <a:cubicBezTo>
                    <a:pt x="889000" y="216067"/>
                    <a:pt x="689991" y="0"/>
                    <a:pt x="444500" y="0"/>
                  </a:cubicBezTo>
                  <a:close/>
                </a:path>
              </a:pathLst>
            </a:custGeom>
            <a:solidFill>
              <a:srgbClr val="1A2A4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889000" cy="1031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4FC3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✔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915150" y="4848225"/>
            <a:ext cx="443865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Entrega continua de valor</a:t>
            </a:r>
          </a:p>
        </p:txBody>
      </p:sp>
      <p:sp>
        <p:nvSpPr>
          <p:cNvPr name="AutoShape 27" id="27"/>
          <p:cNvSpPr/>
          <p:nvPr/>
        </p:nvSpPr>
        <p:spPr>
          <a:xfrm>
            <a:off x="7010400" y="5591175"/>
            <a:ext cx="4248150" cy="0"/>
          </a:xfrm>
          <a:prstGeom prst="line">
            <a:avLst/>
          </a:prstGeom>
          <a:ln cap="flat" w="9525">
            <a:solidFill>
              <a:srgbClr val="2A3A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6915150" y="5749290"/>
            <a:ext cx="4438650" cy="1369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679"/>
              </a:lnSpc>
              <a:buFont typeface="Arial"/>
              <a:buChar char="•"/>
            </a:pPr>
            <a:r>
              <a:rPr lang="en-US" sz="2299" strike="noStrike" u="none">
                <a:solidFill>
                  <a:srgbClr val="D8DFEA"/>
                </a:solidFill>
                <a:latin typeface="Open Sauce"/>
                <a:ea typeface="Open Sauce"/>
                <a:cs typeface="Open Sauce"/>
                <a:sym typeface="Open Sauce"/>
              </a:rPr>
              <a:t>Incorporación de nuevas funcionalidades en cada sprint.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115800" y="3400425"/>
            <a:ext cx="5010150" cy="4286250"/>
            <a:chOff x="0" y="0"/>
            <a:chExt cx="6680200" cy="5715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80200" cy="5715000"/>
            </a:xfrm>
            <a:custGeom>
              <a:avLst/>
              <a:gdLst/>
              <a:ahLst/>
              <a:cxnLst/>
              <a:rect r="r" b="b" t="t" l="l"/>
              <a:pathLst>
                <a:path h="5715000" w="6680200">
                  <a:moveTo>
                    <a:pt x="571500" y="0"/>
                  </a:moveTo>
                  <a:lnTo>
                    <a:pt x="6108700" y="0"/>
                  </a:lnTo>
                  <a:cubicBezTo>
                    <a:pt x="6424331" y="0"/>
                    <a:pt x="6680200" y="255869"/>
                    <a:pt x="6680200" y="571500"/>
                  </a:cubicBezTo>
                  <a:lnTo>
                    <a:pt x="6680200" y="5143500"/>
                  </a:lnTo>
                  <a:cubicBezTo>
                    <a:pt x="6680200" y="5459131"/>
                    <a:pt x="6424331" y="5715000"/>
                    <a:pt x="6108700" y="5715000"/>
                  </a:cubicBezTo>
                  <a:lnTo>
                    <a:pt x="571500" y="5715000"/>
                  </a:lnTo>
                  <a:cubicBezTo>
                    <a:pt x="255869" y="5715000"/>
                    <a:pt x="0" y="5459131"/>
                    <a:pt x="0" y="5143500"/>
                  </a:cubicBezTo>
                  <a:lnTo>
                    <a:pt x="0" y="571500"/>
                  </a:lnTo>
                  <a:cubicBezTo>
                    <a:pt x="0" y="255869"/>
                    <a:pt x="255869" y="0"/>
                    <a:pt x="571500" y="0"/>
                  </a:cubicBezTo>
                  <a:close/>
                </a:path>
              </a:pathLst>
            </a:custGeom>
            <a:solidFill>
              <a:srgbClr val="3F5984"/>
            </a:solidFill>
            <a:ln w="9525" cap="sq">
              <a:solidFill>
                <a:srgbClr val="2A3A5A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680200" cy="575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115800" y="3400425"/>
            <a:ext cx="5010150" cy="57150"/>
            <a:chOff x="0" y="0"/>
            <a:chExt cx="6680200" cy="76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80200" cy="76200"/>
            </a:xfrm>
            <a:custGeom>
              <a:avLst/>
              <a:gdLst/>
              <a:ahLst/>
              <a:cxnLst/>
              <a:rect r="r" b="b" t="t" l="l"/>
              <a:pathLst>
                <a:path h="76200" w="6680200">
                  <a:moveTo>
                    <a:pt x="0" y="0"/>
                  </a:moveTo>
                  <a:lnTo>
                    <a:pt x="6680200" y="0"/>
                  </a:lnTo>
                  <a:lnTo>
                    <a:pt x="6680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A2A4A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680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287500" y="3876675"/>
            <a:ext cx="666750" cy="723900"/>
            <a:chOff x="0" y="0"/>
            <a:chExt cx="889000" cy="965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89000" cy="965200"/>
            </a:xfrm>
            <a:custGeom>
              <a:avLst/>
              <a:gdLst/>
              <a:ahLst/>
              <a:cxnLst/>
              <a:rect r="r" b="b" t="t" l="l"/>
              <a:pathLst>
                <a:path h="965200" w="889000">
                  <a:moveTo>
                    <a:pt x="444500" y="0"/>
                  </a:moveTo>
                  <a:cubicBezTo>
                    <a:pt x="199009" y="0"/>
                    <a:pt x="0" y="216067"/>
                    <a:pt x="0" y="482600"/>
                  </a:cubicBezTo>
                  <a:cubicBezTo>
                    <a:pt x="0" y="749133"/>
                    <a:pt x="199009" y="965200"/>
                    <a:pt x="444500" y="965200"/>
                  </a:cubicBezTo>
                  <a:cubicBezTo>
                    <a:pt x="689991" y="965200"/>
                    <a:pt x="889000" y="749133"/>
                    <a:pt x="889000" y="482600"/>
                  </a:cubicBezTo>
                  <a:cubicBezTo>
                    <a:pt x="889000" y="216067"/>
                    <a:pt x="689991" y="0"/>
                    <a:pt x="444500" y="0"/>
                  </a:cubicBezTo>
                  <a:close/>
                </a:path>
              </a:pathLst>
            </a:custGeom>
            <a:solidFill>
              <a:srgbClr val="1A2A4A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889000" cy="1031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4FC3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✔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2401550" y="4848225"/>
            <a:ext cx="443865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Desarrollo iterativo</a:t>
            </a:r>
          </a:p>
        </p:txBody>
      </p:sp>
      <p:sp>
        <p:nvSpPr>
          <p:cNvPr name="AutoShape 39" id="39"/>
          <p:cNvSpPr/>
          <p:nvPr/>
        </p:nvSpPr>
        <p:spPr>
          <a:xfrm>
            <a:off x="12496800" y="5591175"/>
            <a:ext cx="4248150" cy="0"/>
          </a:xfrm>
          <a:prstGeom prst="line">
            <a:avLst/>
          </a:prstGeom>
          <a:ln cap="flat" w="9525">
            <a:solidFill>
              <a:srgbClr val="2A3A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0" id="40"/>
          <p:cNvSpPr txBox="true"/>
          <p:nvPr/>
        </p:nvSpPr>
        <p:spPr>
          <a:xfrm rot="0">
            <a:off x="12401550" y="5665787"/>
            <a:ext cx="4438650" cy="172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519"/>
              </a:lnSpc>
              <a:buFont typeface="Arial"/>
              <a:buChar char="•"/>
            </a:pPr>
            <a:r>
              <a:rPr lang="en-US" sz="2199" strike="noStrike" u="none">
                <a:solidFill>
                  <a:srgbClr val="D8DFEA"/>
                </a:solidFill>
                <a:latin typeface="Open Sauce"/>
                <a:ea typeface="Open Sauce"/>
                <a:cs typeface="Open Sauce"/>
                <a:sym typeface="Open Sauce"/>
              </a:rPr>
              <a:t>Mejora progresiva del software.</a:t>
            </a:r>
          </a:p>
          <a:p>
            <a:pPr algn="l" marL="474978" indent="-237489" lvl="1">
              <a:lnSpc>
                <a:spcPts val="3519"/>
              </a:lnSpc>
              <a:buFont typeface="Arial"/>
              <a:buChar char="•"/>
            </a:pPr>
            <a:r>
              <a:rPr lang="en-US" sz="2199" strike="noStrike" u="none">
                <a:solidFill>
                  <a:srgbClr val="D8DFEA"/>
                </a:solidFill>
                <a:latin typeface="Open Sauce"/>
                <a:ea typeface="Open Sauce"/>
                <a:cs typeface="Open Sauce"/>
                <a:sym typeface="Open Sauce"/>
              </a:rPr>
              <a:t>Adaptación a requisitos cambiantes.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3704204" y="152400"/>
            <a:ext cx="4393296" cy="1098324"/>
          </a:xfrm>
          <a:custGeom>
            <a:avLst/>
            <a:gdLst/>
            <a:ahLst/>
            <a:cxnLst/>
            <a:rect r="r" b="b" t="t" l="l"/>
            <a:pathLst>
              <a:path h="1098324" w="4393296">
                <a:moveTo>
                  <a:pt x="0" y="0"/>
                </a:moveTo>
                <a:lnTo>
                  <a:pt x="4393296" y="0"/>
                </a:lnTo>
                <a:lnTo>
                  <a:pt x="4393296" y="1098324"/>
                </a:lnTo>
                <a:lnTo>
                  <a:pt x="0" y="1098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57750" y="721995"/>
            <a:ext cx="85725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sz="4800" strike="noStrike" u="none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Planificación de Sprints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689647" y="1828800"/>
            <a:ext cx="1501012" cy="571500"/>
            <a:chOff x="0" y="0"/>
            <a:chExt cx="2001350" cy="762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01350" cy="762000"/>
            </a:xfrm>
            <a:custGeom>
              <a:avLst/>
              <a:gdLst/>
              <a:ahLst/>
              <a:cxnLst/>
              <a:rect r="r" b="b" t="t" l="l"/>
              <a:pathLst>
                <a:path h="762000" w="2001350">
                  <a:moveTo>
                    <a:pt x="0" y="0"/>
                  </a:moveTo>
                  <a:lnTo>
                    <a:pt x="2001350" y="0"/>
                  </a:lnTo>
                  <a:lnTo>
                    <a:pt x="200135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F5984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0135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Sprint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190660" y="1828800"/>
            <a:ext cx="11407693" cy="571500"/>
            <a:chOff x="0" y="0"/>
            <a:chExt cx="15210257" cy="762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10258" cy="762000"/>
            </a:xfrm>
            <a:custGeom>
              <a:avLst/>
              <a:gdLst/>
              <a:ahLst/>
              <a:cxnLst/>
              <a:rect r="r" b="b" t="t" l="l"/>
              <a:pathLst>
                <a:path h="762000" w="15210258">
                  <a:moveTo>
                    <a:pt x="0" y="0"/>
                  </a:moveTo>
                  <a:lnTo>
                    <a:pt x="15210258" y="0"/>
                  </a:lnTo>
                  <a:lnTo>
                    <a:pt x="15210258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F5984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210257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Actividades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689647" y="2400300"/>
            <a:ext cx="1501012" cy="762000"/>
            <a:chOff x="0" y="0"/>
            <a:chExt cx="2001350" cy="101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0135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001350">
                  <a:moveTo>
                    <a:pt x="0" y="0"/>
                  </a:moveTo>
                  <a:lnTo>
                    <a:pt x="2001350" y="0"/>
                  </a:lnTo>
                  <a:lnTo>
                    <a:pt x="200135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E8E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0135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10203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Sprint 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190660" y="2400300"/>
            <a:ext cx="11407693" cy="762000"/>
            <a:chOff x="0" y="0"/>
            <a:chExt cx="15210257" cy="10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210258" cy="1016000"/>
            </a:xfrm>
            <a:custGeom>
              <a:avLst/>
              <a:gdLst/>
              <a:ahLst/>
              <a:cxnLst/>
              <a:rect r="r" b="b" t="t" l="l"/>
              <a:pathLst>
                <a:path h="1016000" w="15210258">
                  <a:moveTo>
                    <a:pt x="0" y="0"/>
                  </a:moveTo>
                  <a:lnTo>
                    <a:pt x="15210258" y="0"/>
                  </a:lnTo>
                  <a:lnTo>
                    <a:pt x="15210258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E8E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210257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10203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Definición del Product Backlog y levantamiento de requerimientos.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689647" y="3162300"/>
            <a:ext cx="1501012" cy="762000"/>
            <a:chOff x="0" y="0"/>
            <a:chExt cx="2001350" cy="101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0135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001350">
                  <a:moveTo>
                    <a:pt x="0" y="0"/>
                  </a:moveTo>
                  <a:lnTo>
                    <a:pt x="2001350" y="0"/>
                  </a:lnTo>
                  <a:lnTo>
                    <a:pt x="200135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0135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10203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Sprint 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190660" y="3162300"/>
            <a:ext cx="11407693" cy="762000"/>
            <a:chOff x="0" y="0"/>
            <a:chExt cx="15210257" cy="101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210258" cy="1016000"/>
            </a:xfrm>
            <a:custGeom>
              <a:avLst/>
              <a:gdLst/>
              <a:ahLst/>
              <a:cxnLst/>
              <a:rect r="r" b="b" t="t" l="l"/>
              <a:pathLst>
                <a:path h="1016000" w="15210258">
                  <a:moveTo>
                    <a:pt x="0" y="0"/>
                  </a:moveTo>
                  <a:lnTo>
                    <a:pt x="15210258" y="0"/>
                  </a:lnTo>
                  <a:lnTo>
                    <a:pt x="15210258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210257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10203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Diseño de interfaces en Figma y definición de la arquitectura inicial.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689647" y="3924300"/>
            <a:ext cx="1501012" cy="762000"/>
            <a:chOff x="0" y="0"/>
            <a:chExt cx="2001350" cy="1016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0135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001350">
                  <a:moveTo>
                    <a:pt x="0" y="0"/>
                  </a:moveTo>
                  <a:lnTo>
                    <a:pt x="2001350" y="0"/>
                  </a:lnTo>
                  <a:lnTo>
                    <a:pt x="200135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E8E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0135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10203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Sprint 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190660" y="3924300"/>
            <a:ext cx="11407693" cy="762000"/>
            <a:chOff x="0" y="0"/>
            <a:chExt cx="15210257" cy="1016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210258" cy="1016000"/>
            </a:xfrm>
            <a:custGeom>
              <a:avLst/>
              <a:gdLst/>
              <a:ahLst/>
              <a:cxnLst/>
              <a:rect r="r" b="b" t="t" l="l"/>
              <a:pathLst>
                <a:path h="1016000" w="15210258">
                  <a:moveTo>
                    <a:pt x="0" y="0"/>
                  </a:moveTo>
                  <a:lnTo>
                    <a:pt x="15210258" y="0"/>
                  </a:lnTo>
                  <a:lnTo>
                    <a:pt x="15210258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E8E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5210257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10203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Diseño de la base de datos y organización de perfiles y funcionalidades.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689647" y="4686300"/>
            <a:ext cx="1501012" cy="762000"/>
            <a:chOff x="0" y="0"/>
            <a:chExt cx="2001350" cy="1016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0135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001350">
                  <a:moveTo>
                    <a:pt x="0" y="0"/>
                  </a:moveTo>
                  <a:lnTo>
                    <a:pt x="2001350" y="0"/>
                  </a:lnTo>
                  <a:lnTo>
                    <a:pt x="200135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00135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10203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Sprint 4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190660" y="4686300"/>
            <a:ext cx="11407693" cy="762000"/>
            <a:chOff x="0" y="0"/>
            <a:chExt cx="15210257" cy="1016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210258" cy="1016000"/>
            </a:xfrm>
            <a:custGeom>
              <a:avLst/>
              <a:gdLst/>
              <a:ahLst/>
              <a:cxnLst/>
              <a:rect r="r" b="b" t="t" l="l"/>
              <a:pathLst>
                <a:path h="1016000" w="15210258">
                  <a:moveTo>
                    <a:pt x="0" y="0"/>
                  </a:moveTo>
                  <a:lnTo>
                    <a:pt x="15210258" y="0"/>
                  </a:lnTo>
                  <a:lnTo>
                    <a:pt x="15210258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5210257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10203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Configuración del entorno de desarrollo (Flutter + Supabase) y autenticación.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689647" y="5448300"/>
            <a:ext cx="1501012" cy="762000"/>
            <a:chOff x="0" y="0"/>
            <a:chExt cx="2001350" cy="1016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0135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001350">
                  <a:moveTo>
                    <a:pt x="0" y="0"/>
                  </a:moveTo>
                  <a:lnTo>
                    <a:pt x="2001350" y="0"/>
                  </a:lnTo>
                  <a:lnTo>
                    <a:pt x="200135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E8E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00135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10203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Sprint 5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190660" y="5448300"/>
            <a:ext cx="11407693" cy="762000"/>
            <a:chOff x="0" y="0"/>
            <a:chExt cx="15210257" cy="1016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210258" cy="1016000"/>
            </a:xfrm>
            <a:custGeom>
              <a:avLst/>
              <a:gdLst/>
              <a:ahLst/>
              <a:cxnLst/>
              <a:rect r="r" b="b" t="t" l="l"/>
              <a:pathLst>
                <a:path h="1016000" w="15210258">
                  <a:moveTo>
                    <a:pt x="0" y="0"/>
                  </a:moveTo>
                  <a:lnTo>
                    <a:pt x="15210258" y="0"/>
                  </a:lnTo>
                  <a:lnTo>
                    <a:pt x="15210258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E8E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5210257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10203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Implementación del registro e inicio de sesión de usuarios.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689647" y="6210300"/>
            <a:ext cx="1501012" cy="762000"/>
            <a:chOff x="0" y="0"/>
            <a:chExt cx="2001350" cy="1016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0135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001350">
                  <a:moveTo>
                    <a:pt x="0" y="0"/>
                  </a:moveTo>
                  <a:lnTo>
                    <a:pt x="2001350" y="0"/>
                  </a:lnTo>
                  <a:lnTo>
                    <a:pt x="200135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00135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10203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Sprint 6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190660" y="6210300"/>
            <a:ext cx="11407693" cy="762000"/>
            <a:chOff x="0" y="0"/>
            <a:chExt cx="15210257" cy="1016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210258" cy="1016000"/>
            </a:xfrm>
            <a:custGeom>
              <a:avLst/>
              <a:gdLst/>
              <a:ahLst/>
              <a:cxnLst/>
              <a:rect r="r" b="b" t="t" l="l"/>
              <a:pathLst>
                <a:path h="1016000" w="15210258">
                  <a:moveTo>
                    <a:pt x="0" y="0"/>
                  </a:moveTo>
                  <a:lnTo>
                    <a:pt x="15210258" y="0"/>
                  </a:lnTo>
                  <a:lnTo>
                    <a:pt x="15210258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5210257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10203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Desarrollo de la visualización de solicitudes de atención.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689647" y="6972300"/>
            <a:ext cx="1501012" cy="762000"/>
            <a:chOff x="0" y="0"/>
            <a:chExt cx="2001350" cy="1016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0135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001350">
                  <a:moveTo>
                    <a:pt x="0" y="0"/>
                  </a:moveTo>
                  <a:lnTo>
                    <a:pt x="2001350" y="0"/>
                  </a:lnTo>
                  <a:lnTo>
                    <a:pt x="200135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E8E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00135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10203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Sprint 7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190660" y="6972300"/>
            <a:ext cx="11407693" cy="762000"/>
            <a:chOff x="0" y="0"/>
            <a:chExt cx="15210257" cy="1016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5210258" cy="1016000"/>
            </a:xfrm>
            <a:custGeom>
              <a:avLst/>
              <a:gdLst/>
              <a:ahLst/>
              <a:cxnLst/>
              <a:rect r="r" b="b" t="t" l="l"/>
              <a:pathLst>
                <a:path h="1016000" w="15210258">
                  <a:moveTo>
                    <a:pt x="0" y="0"/>
                  </a:moveTo>
                  <a:lnTo>
                    <a:pt x="15210258" y="0"/>
                  </a:lnTo>
                  <a:lnTo>
                    <a:pt x="15210258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E8E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5210257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10203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Implementación de asignación de tareas, estados e historial de solicitudes.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689647" y="7734300"/>
            <a:ext cx="1501012" cy="762000"/>
            <a:chOff x="0" y="0"/>
            <a:chExt cx="2001350" cy="1016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0135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001350">
                  <a:moveTo>
                    <a:pt x="0" y="0"/>
                  </a:moveTo>
                  <a:lnTo>
                    <a:pt x="2001350" y="0"/>
                  </a:lnTo>
                  <a:lnTo>
                    <a:pt x="200135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200135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10203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Sprint 8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190660" y="7734300"/>
            <a:ext cx="11407693" cy="762000"/>
            <a:chOff x="0" y="0"/>
            <a:chExt cx="15210257" cy="1016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5210258" cy="1016000"/>
            </a:xfrm>
            <a:custGeom>
              <a:avLst/>
              <a:gdLst/>
              <a:ahLst/>
              <a:cxnLst/>
              <a:rect r="r" b="b" t="t" l="l"/>
              <a:pathLst>
                <a:path h="1016000" w="15210258">
                  <a:moveTo>
                    <a:pt x="0" y="0"/>
                  </a:moveTo>
                  <a:lnTo>
                    <a:pt x="15210258" y="0"/>
                  </a:lnTo>
                  <a:lnTo>
                    <a:pt x="15210258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5210257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10203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Integración de módulos, validaciones y mejoras de la interfaz.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2689647" y="8496300"/>
            <a:ext cx="1501012" cy="762000"/>
            <a:chOff x="0" y="0"/>
            <a:chExt cx="2001350" cy="10160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0135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001350">
                  <a:moveTo>
                    <a:pt x="0" y="0"/>
                  </a:moveTo>
                  <a:lnTo>
                    <a:pt x="2001350" y="0"/>
                  </a:lnTo>
                  <a:lnTo>
                    <a:pt x="200135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E8E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00135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10203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Sprint 9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190660" y="8496300"/>
            <a:ext cx="11407693" cy="762000"/>
            <a:chOff x="0" y="0"/>
            <a:chExt cx="15210257" cy="1016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5210258" cy="1016000"/>
            </a:xfrm>
            <a:custGeom>
              <a:avLst/>
              <a:gdLst/>
              <a:ahLst/>
              <a:cxnLst/>
              <a:rect r="r" b="b" t="t" l="l"/>
              <a:pathLst>
                <a:path h="1016000" w="15210258">
                  <a:moveTo>
                    <a:pt x="0" y="0"/>
                  </a:moveTo>
                  <a:lnTo>
                    <a:pt x="15210258" y="0"/>
                  </a:lnTo>
                  <a:lnTo>
                    <a:pt x="15210258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E8E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5210257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10203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Pruebas funcionales, optimización, documentación y preparación de la presentación final.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13704204" y="152400"/>
            <a:ext cx="4393296" cy="1098324"/>
          </a:xfrm>
          <a:custGeom>
            <a:avLst/>
            <a:gdLst/>
            <a:ahLst/>
            <a:cxnLst/>
            <a:rect r="r" b="b" t="t" l="l"/>
            <a:pathLst>
              <a:path h="1098324" w="4393296">
                <a:moveTo>
                  <a:pt x="0" y="0"/>
                </a:moveTo>
                <a:lnTo>
                  <a:pt x="4393296" y="0"/>
                </a:lnTo>
                <a:lnTo>
                  <a:pt x="4393296" y="1098324"/>
                </a:lnTo>
                <a:lnTo>
                  <a:pt x="0" y="1098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86024" y="1597963"/>
            <a:ext cx="13915953" cy="8663679"/>
          </a:xfrm>
          <a:custGeom>
            <a:avLst/>
            <a:gdLst/>
            <a:ahLst/>
            <a:cxnLst/>
            <a:rect r="r" b="b" t="t" l="l"/>
            <a:pathLst>
              <a:path h="8663679" w="13915953">
                <a:moveTo>
                  <a:pt x="0" y="0"/>
                </a:moveTo>
                <a:lnTo>
                  <a:pt x="13915952" y="0"/>
                </a:lnTo>
                <a:lnTo>
                  <a:pt x="13915952" y="8663679"/>
                </a:lnTo>
                <a:lnTo>
                  <a:pt x="0" y="8663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82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38753" y="730137"/>
            <a:ext cx="10810495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sz="4800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Arquitectura del software / Tecnologias usadas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704204" y="152400"/>
            <a:ext cx="4393296" cy="1098324"/>
          </a:xfrm>
          <a:custGeom>
            <a:avLst/>
            <a:gdLst/>
            <a:ahLst/>
            <a:cxnLst/>
            <a:rect r="r" b="b" t="t" l="l"/>
            <a:pathLst>
              <a:path h="1098324" w="4393296">
                <a:moveTo>
                  <a:pt x="0" y="0"/>
                </a:moveTo>
                <a:lnTo>
                  <a:pt x="4393296" y="0"/>
                </a:lnTo>
                <a:lnTo>
                  <a:pt x="4393296" y="1098324"/>
                </a:lnTo>
                <a:lnTo>
                  <a:pt x="0" y="1098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>
            <a:off x="5166726" y="2803806"/>
            <a:ext cx="624726" cy="4642830"/>
          </a:xfrm>
          <a:custGeom>
            <a:avLst/>
            <a:gdLst/>
            <a:ahLst/>
            <a:cxnLst/>
            <a:rect r="r" b="b" t="t" l="l"/>
            <a:pathLst>
              <a:path h="4642830" w="624726">
                <a:moveTo>
                  <a:pt x="0" y="0"/>
                </a:moveTo>
                <a:lnTo>
                  <a:pt x="396126" y="0"/>
                </a:lnTo>
                <a:cubicBezTo>
                  <a:pt x="456754" y="0"/>
                  <a:pt x="514899" y="24084"/>
                  <a:pt x="557770" y="66955"/>
                </a:cubicBezTo>
                <a:cubicBezTo>
                  <a:pt x="600641" y="109826"/>
                  <a:pt x="624726" y="167971"/>
                  <a:pt x="624726" y="228600"/>
                </a:cubicBezTo>
                <a:lnTo>
                  <a:pt x="624726" y="4414230"/>
                </a:lnTo>
                <a:cubicBezTo>
                  <a:pt x="624726" y="4540482"/>
                  <a:pt x="522378" y="4642830"/>
                  <a:pt x="396126" y="4642830"/>
                </a:cubicBezTo>
                <a:lnTo>
                  <a:pt x="3244" y="4642830"/>
                </a:lnTo>
              </a:path>
            </a:pathLst>
          </a:custGeom>
          <a:ln cap="flat" w="28575">
            <a:solidFill>
              <a:srgbClr val="2A3A5A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>
            <a:off x="12396289" y="2789518"/>
            <a:ext cx="676318" cy="4642830"/>
          </a:xfrm>
          <a:custGeom>
            <a:avLst/>
            <a:gdLst/>
            <a:ahLst/>
            <a:cxnLst/>
            <a:rect r="r" b="b" t="t" l="l"/>
            <a:pathLst>
              <a:path h="4642830" w="676318">
                <a:moveTo>
                  <a:pt x="654795" y="0"/>
                </a:moveTo>
                <a:lnTo>
                  <a:pt x="228600" y="0"/>
                </a:lnTo>
                <a:cubicBezTo>
                  <a:pt x="167971" y="0"/>
                  <a:pt x="109826" y="24085"/>
                  <a:pt x="66956" y="66956"/>
                </a:cubicBezTo>
                <a:cubicBezTo>
                  <a:pt x="24085" y="109827"/>
                  <a:pt x="0" y="167972"/>
                  <a:pt x="0" y="228600"/>
                </a:cubicBezTo>
                <a:lnTo>
                  <a:pt x="0" y="4414231"/>
                </a:lnTo>
                <a:cubicBezTo>
                  <a:pt x="0" y="4540483"/>
                  <a:pt x="102348" y="4642831"/>
                  <a:pt x="228600" y="4642831"/>
                </a:cubicBezTo>
                <a:lnTo>
                  <a:pt x="676318" y="4642831"/>
                </a:lnTo>
              </a:path>
            </a:pathLst>
          </a:custGeom>
          <a:ln cap="flat" w="28575">
            <a:solidFill>
              <a:srgbClr val="2A3A5A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5788207" y="5067300"/>
            <a:ext cx="405395" cy="0"/>
          </a:xfrm>
          <a:prstGeom prst="line">
            <a:avLst/>
          </a:prstGeom>
          <a:ln cap="flat" w="28575">
            <a:solidFill>
              <a:srgbClr val="2A3A5A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 flipH="true">
            <a:off x="12005024" y="5053012"/>
            <a:ext cx="405395" cy="0"/>
          </a:xfrm>
          <a:prstGeom prst="line">
            <a:avLst/>
          </a:prstGeom>
          <a:ln cap="flat" w="28575">
            <a:solidFill>
              <a:srgbClr val="2A3A5A"/>
            </a:solidFill>
            <a:prstDash val="sysDot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04204" y="152400"/>
            <a:ext cx="4393296" cy="1098324"/>
          </a:xfrm>
          <a:custGeom>
            <a:avLst/>
            <a:gdLst/>
            <a:ahLst/>
            <a:cxnLst/>
            <a:rect r="r" b="b" t="t" l="l"/>
            <a:pathLst>
              <a:path h="1098324" w="4393296">
                <a:moveTo>
                  <a:pt x="0" y="0"/>
                </a:moveTo>
                <a:lnTo>
                  <a:pt x="4393296" y="0"/>
                </a:lnTo>
                <a:lnTo>
                  <a:pt x="4393296" y="1098324"/>
                </a:lnTo>
                <a:lnTo>
                  <a:pt x="0" y="1098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994523"/>
            <a:ext cx="18288000" cy="7909560"/>
          </a:xfrm>
          <a:custGeom>
            <a:avLst/>
            <a:gdLst/>
            <a:ahLst/>
            <a:cxnLst/>
            <a:rect r="r" b="b" t="t" l="l"/>
            <a:pathLst>
              <a:path h="7909560" w="18288000">
                <a:moveTo>
                  <a:pt x="0" y="0"/>
                </a:moveTo>
                <a:lnTo>
                  <a:pt x="18288000" y="0"/>
                </a:lnTo>
                <a:lnTo>
                  <a:pt x="18288000" y="7909560"/>
                </a:lnTo>
                <a:lnTo>
                  <a:pt x="0" y="79095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57750" y="944019"/>
            <a:ext cx="85725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sz="4800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Modelo de datos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41528" y="1028700"/>
            <a:ext cx="4725150" cy="3581747"/>
          </a:xfrm>
          <a:custGeom>
            <a:avLst/>
            <a:gdLst/>
            <a:ahLst/>
            <a:cxnLst/>
            <a:rect r="r" b="b" t="t" l="l"/>
            <a:pathLst>
              <a:path h="3581747" w="4725150">
                <a:moveTo>
                  <a:pt x="0" y="0"/>
                </a:moveTo>
                <a:lnTo>
                  <a:pt x="4725150" y="0"/>
                </a:lnTo>
                <a:lnTo>
                  <a:pt x="4725150" y="3581747"/>
                </a:lnTo>
                <a:lnTo>
                  <a:pt x="0" y="35817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4191" y="76200"/>
            <a:ext cx="4170758" cy="4610447"/>
          </a:xfrm>
          <a:custGeom>
            <a:avLst/>
            <a:gdLst/>
            <a:ahLst/>
            <a:cxnLst/>
            <a:rect r="r" b="b" t="t" l="l"/>
            <a:pathLst>
              <a:path h="4610447" w="4170758">
                <a:moveTo>
                  <a:pt x="0" y="0"/>
                </a:moveTo>
                <a:lnTo>
                  <a:pt x="4170758" y="0"/>
                </a:lnTo>
                <a:lnTo>
                  <a:pt x="4170758" y="4610447"/>
                </a:lnTo>
                <a:lnTo>
                  <a:pt x="0" y="46104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04204" y="152400"/>
            <a:ext cx="4393296" cy="1098324"/>
          </a:xfrm>
          <a:custGeom>
            <a:avLst/>
            <a:gdLst/>
            <a:ahLst/>
            <a:cxnLst/>
            <a:rect r="r" b="b" t="t" l="l"/>
            <a:pathLst>
              <a:path h="1098324" w="4393296">
                <a:moveTo>
                  <a:pt x="0" y="0"/>
                </a:moveTo>
                <a:lnTo>
                  <a:pt x="4393296" y="0"/>
                </a:lnTo>
                <a:lnTo>
                  <a:pt x="4393296" y="1098324"/>
                </a:lnTo>
                <a:lnTo>
                  <a:pt x="0" y="1098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932112" y="152400"/>
            <a:ext cx="5032268" cy="4458047"/>
          </a:xfrm>
          <a:custGeom>
            <a:avLst/>
            <a:gdLst/>
            <a:ahLst/>
            <a:cxnLst/>
            <a:rect r="r" b="b" t="t" l="l"/>
            <a:pathLst>
              <a:path h="4458047" w="5032268">
                <a:moveTo>
                  <a:pt x="0" y="0"/>
                </a:moveTo>
                <a:lnTo>
                  <a:pt x="5032268" y="0"/>
                </a:lnTo>
                <a:lnTo>
                  <a:pt x="5032268" y="4458047"/>
                </a:lnTo>
                <a:lnTo>
                  <a:pt x="0" y="44580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17855" y="4610447"/>
            <a:ext cx="11052289" cy="5512666"/>
          </a:xfrm>
          <a:custGeom>
            <a:avLst/>
            <a:gdLst/>
            <a:ahLst/>
            <a:cxnLst/>
            <a:rect r="r" b="b" t="t" l="l"/>
            <a:pathLst>
              <a:path h="5512666" w="11052289">
                <a:moveTo>
                  <a:pt x="0" y="0"/>
                </a:moveTo>
                <a:lnTo>
                  <a:pt x="11052290" y="0"/>
                </a:lnTo>
                <a:lnTo>
                  <a:pt x="11052290" y="5512666"/>
                </a:lnTo>
                <a:lnTo>
                  <a:pt x="0" y="55126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86500" y="533400"/>
            <a:ext cx="5715000" cy="73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19"/>
              </a:lnSpc>
              <a:spcBef>
                <a:spcPct val="0"/>
              </a:spcBef>
            </a:pPr>
            <a:r>
              <a:rPr lang="en-US" sz="5199" strike="noStrike" u="none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Resultados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43000" y="1524000"/>
            <a:ext cx="5076825" cy="3619500"/>
            <a:chOff x="0" y="0"/>
            <a:chExt cx="6769100" cy="482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691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6769100">
                  <a:moveTo>
                    <a:pt x="482600" y="0"/>
                  </a:moveTo>
                  <a:lnTo>
                    <a:pt x="6286500" y="0"/>
                  </a:lnTo>
                  <a:cubicBezTo>
                    <a:pt x="6553033" y="0"/>
                    <a:pt x="6769100" y="216067"/>
                    <a:pt x="6769100" y="482600"/>
                  </a:cubicBezTo>
                  <a:lnTo>
                    <a:pt x="6769100" y="4343400"/>
                  </a:lnTo>
                  <a:cubicBezTo>
                    <a:pt x="6769100" y="4609933"/>
                    <a:pt x="6553033" y="4826000"/>
                    <a:pt x="6286500" y="4826000"/>
                  </a:cubicBezTo>
                  <a:lnTo>
                    <a:pt x="482600" y="4826000"/>
                  </a:lnTo>
                  <a:cubicBezTo>
                    <a:pt x="216067" y="4826000"/>
                    <a:pt x="0" y="4609933"/>
                    <a:pt x="0" y="4343400"/>
                  </a:cubicBezTo>
                  <a:lnTo>
                    <a:pt x="0" y="482600"/>
                  </a:lnTo>
                  <a:cubicBezTo>
                    <a:pt x="0" y="216067"/>
                    <a:pt x="216067" y="0"/>
                    <a:pt x="482600" y="0"/>
                  </a:cubicBezTo>
                  <a:close/>
                </a:path>
              </a:pathLst>
            </a:custGeom>
            <a:solidFill>
              <a:srgbClr val="D8DFEA"/>
            </a:solidFill>
            <a:ln w="9525" cap="sq">
              <a:solidFill>
                <a:srgbClr val="2A3A5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691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33475" y="2000250"/>
            <a:ext cx="5076825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trike="noStrike" u="none">
                <a:solidFill>
                  <a:srgbClr val="3F5984"/>
                </a:solidFill>
                <a:latin typeface="Open Sauce"/>
                <a:ea typeface="Open Sauce"/>
                <a:cs typeface="Open Sauce"/>
                <a:sym typeface="Open Sauce"/>
              </a:rPr>
              <a:t>✅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89635" y="2705100"/>
            <a:ext cx="3383555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2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3F598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100%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3500" y="3640455"/>
            <a:ext cx="4695825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Funcionalidades</a:t>
            </a:r>
          </a:p>
          <a:p>
            <a:pPr algn="ctr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implementadas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00825" y="1524000"/>
            <a:ext cx="5076825" cy="3619500"/>
            <a:chOff x="0" y="0"/>
            <a:chExt cx="6769100" cy="482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691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6769100">
                  <a:moveTo>
                    <a:pt x="482600" y="0"/>
                  </a:moveTo>
                  <a:lnTo>
                    <a:pt x="6286500" y="0"/>
                  </a:lnTo>
                  <a:cubicBezTo>
                    <a:pt x="6553033" y="0"/>
                    <a:pt x="6769100" y="216067"/>
                    <a:pt x="6769100" y="482600"/>
                  </a:cubicBezTo>
                  <a:lnTo>
                    <a:pt x="6769100" y="4343400"/>
                  </a:lnTo>
                  <a:cubicBezTo>
                    <a:pt x="6769100" y="4609933"/>
                    <a:pt x="6553033" y="4826000"/>
                    <a:pt x="6286500" y="4826000"/>
                  </a:cubicBezTo>
                  <a:lnTo>
                    <a:pt x="482600" y="4826000"/>
                  </a:lnTo>
                  <a:cubicBezTo>
                    <a:pt x="216067" y="4826000"/>
                    <a:pt x="0" y="4609933"/>
                    <a:pt x="0" y="4343400"/>
                  </a:cubicBezTo>
                  <a:lnTo>
                    <a:pt x="0" y="482600"/>
                  </a:lnTo>
                  <a:cubicBezTo>
                    <a:pt x="0" y="216067"/>
                    <a:pt x="216067" y="0"/>
                    <a:pt x="482600" y="0"/>
                  </a:cubicBezTo>
                  <a:close/>
                </a:path>
              </a:pathLst>
            </a:custGeom>
            <a:solidFill>
              <a:srgbClr val="D8DFEA"/>
            </a:solidFill>
            <a:ln w="9525" cap="sq">
              <a:solidFill>
                <a:srgbClr val="2A3A5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7691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591300" y="2000250"/>
            <a:ext cx="5076825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trike="noStrike" u="none">
                <a:solidFill>
                  <a:srgbClr val="3F5984"/>
                </a:solidFill>
                <a:latin typeface="Open Sauce"/>
                <a:ea typeface="Open Sauce"/>
                <a:cs typeface="Open Sauce"/>
                <a:sym typeface="Open Sauce"/>
              </a:rPr>
              <a:t>⏱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96088" y="2705100"/>
            <a:ext cx="4695825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2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3F598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100%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96088" y="3640455"/>
            <a:ext cx="4695825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Registro de</a:t>
            </a:r>
          </a:p>
          <a:p>
            <a:pPr algn="ctr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tiempos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58650" y="1524000"/>
            <a:ext cx="5076825" cy="3619500"/>
            <a:chOff x="0" y="0"/>
            <a:chExt cx="6769100" cy="482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691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6769100">
                  <a:moveTo>
                    <a:pt x="482600" y="0"/>
                  </a:moveTo>
                  <a:lnTo>
                    <a:pt x="6286500" y="0"/>
                  </a:lnTo>
                  <a:cubicBezTo>
                    <a:pt x="6553033" y="0"/>
                    <a:pt x="6769100" y="216067"/>
                    <a:pt x="6769100" y="482600"/>
                  </a:cubicBezTo>
                  <a:lnTo>
                    <a:pt x="6769100" y="4343400"/>
                  </a:lnTo>
                  <a:cubicBezTo>
                    <a:pt x="6769100" y="4609933"/>
                    <a:pt x="6553033" y="4826000"/>
                    <a:pt x="6286500" y="4826000"/>
                  </a:cubicBezTo>
                  <a:lnTo>
                    <a:pt x="482600" y="4826000"/>
                  </a:lnTo>
                  <a:cubicBezTo>
                    <a:pt x="216067" y="4826000"/>
                    <a:pt x="0" y="4609933"/>
                    <a:pt x="0" y="4343400"/>
                  </a:cubicBezTo>
                  <a:lnTo>
                    <a:pt x="0" y="482600"/>
                  </a:lnTo>
                  <a:cubicBezTo>
                    <a:pt x="0" y="216067"/>
                    <a:pt x="216067" y="0"/>
                    <a:pt x="482600" y="0"/>
                  </a:cubicBezTo>
                  <a:close/>
                </a:path>
              </a:pathLst>
            </a:custGeom>
            <a:solidFill>
              <a:srgbClr val="D8DFEA"/>
            </a:solidFill>
            <a:ln w="9525" cap="sq">
              <a:solidFill>
                <a:srgbClr val="2A3A5A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7691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049125" y="2000250"/>
            <a:ext cx="5076825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trike="noStrike" u="none">
                <a:solidFill>
                  <a:srgbClr val="3F5984"/>
                </a:solidFill>
                <a:latin typeface="Open Sauce"/>
                <a:ea typeface="Open Sauce"/>
                <a:cs typeface="Open Sauce"/>
                <a:sym typeface="Open Sauce"/>
              </a:rPr>
              <a:t>📋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39625" y="2724150"/>
            <a:ext cx="469582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Gestión de</a:t>
            </a:r>
          </a:p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solicitudes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561420" y="3978567"/>
            <a:ext cx="2052235" cy="584887"/>
            <a:chOff x="0" y="0"/>
            <a:chExt cx="2540000" cy="7239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40000" cy="723900"/>
            </a:xfrm>
            <a:custGeom>
              <a:avLst/>
              <a:gdLst/>
              <a:ahLst/>
              <a:cxnLst/>
              <a:rect r="r" b="b" t="t" l="l"/>
              <a:pathLst>
                <a:path h="723900" w="2540000">
                  <a:moveTo>
                    <a:pt x="2178050" y="0"/>
                  </a:moveTo>
                  <a:cubicBezTo>
                    <a:pt x="2377949" y="0"/>
                    <a:pt x="2540000" y="162051"/>
                    <a:pt x="2540000" y="361950"/>
                  </a:cubicBezTo>
                  <a:cubicBezTo>
                    <a:pt x="2540000" y="561849"/>
                    <a:pt x="2377949" y="723900"/>
                    <a:pt x="2178050" y="723900"/>
                  </a:cubicBezTo>
                  <a:lnTo>
                    <a:pt x="361950" y="723900"/>
                  </a:lnTo>
                  <a:cubicBezTo>
                    <a:pt x="162051" y="723900"/>
                    <a:pt x="0" y="561849"/>
                    <a:pt x="0" y="361950"/>
                  </a:cubicBezTo>
                  <a:cubicBezTo>
                    <a:pt x="0" y="162051"/>
                    <a:pt x="162051" y="0"/>
                    <a:pt x="36195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2540000" cy="752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9"/>
                </a:lnSpc>
                <a:spcBef>
                  <a:spcPct val="0"/>
                </a:spcBef>
              </a:pPr>
              <a:r>
                <a:rPr lang="en-US" sz="16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Implementada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43000" y="5524500"/>
            <a:ext cx="5076825" cy="3619500"/>
            <a:chOff x="0" y="0"/>
            <a:chExt cx="6769100" cy="4826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691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6769100">
                  <a:moveTo>
                    <a:pt x="482600" y="0"/>
                  </a:moveTo>
                  <a:lnTo>
                    <a:pt x="6286500" y="0"/>
                  </a:lnTo>
                  <a:cubicBezTo>
                    <a:pt x="6553033" y="0"/>
                    <a:pt x="6769100" y="216067"/>
                    <a:pt x="6769100" y="482600"/>
                  </a:cubicBezTo>
                  <a:lnTo>
                    <a:pt x="6769100" y="4343400"/>
                  </a:lnTo>
                  <a:cubicBezTo>
                    <a:pt x="6769100" y="4609933"/>
                    <a:pt x="6553033" y="4826000"/>
                    <a:pt x="6286500" y="4826000"/>
                  </a:cubicBezTo>
                  <a:lnTo>
                    <a:pt x="482600" y="4826000"/>
                  </a:lnTo>
                  <a:cubicBezTo>
                    <a:pt x="216067" y="4826000"/>
                    <a:pt x="0" y="4609933"/>
                    <a:pt x="0" y="4343400"/>
                  </a:cubicBezTo>
                  <a:lnTo>
                    <a:pt x="0" y="482600"/>
                  </a:lnTo>
                  <a:cubicBezTo>
                    <a:pt x="0" y="216067"/>
                    <a:pt x="216067" y="0"/>
                    <a:pt x="482600" y="0"/>
                  </a:cubicBezTo>
                  <a:close/>
                </a:path>
              </a:pathLst>
            </a:custGeom>
            <a:solidFill>
              <a:srgbClr val="D8DFEA"/>
            </a:solidFill>
            <a:ln w="9525" cap="sq">
              <a:solidFill>
                <a:srgbClr val="2A3A5A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7691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33475" y="6000750"/>
            <a:ext cx="5076825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trike="noStrike" u="none">
                <a:solidFill>
                  <a:srgbClr val="FEFEFD"/>
                </a:solidFill>
                <a:latin typeface="Open Sauce"/>
                <a:ea typeface="Open Sauce"/>
                <a:cs typeface="Open Sauce"/>
                <a:sym typeface="Open Sauce"/>
              </a:rPr>
              <a:t>👥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23975" y="6724650"/>
            <a:ext cx="469582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A2A4A"/>
                </a:solidFill>
                <a:latin typeface="Open Sauce"/>
                <a:ea typeface="Open Sauce"/>
                <a:cs typeface="Open Sauce"/>
                <a:sym typeface="Open Sauce"/>
              </a:rPr>
              <a:t>Asignación</a:t>
            </a:r>
          </a:p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A2A4A"/>
                </a:solidFill>
                <a:latin typeface="Open Sauce"/>
                <a:ea typeface="Open Sauce"/>
                <a:cs typeface="Open Sauce"/>
                <a:sym typeface="Open Sauce"/>
              </a:rPr>
              <a:t>de tareas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2655295" y="8133663"/>
            <a:ext cx="2052235" cy="584887"/>
            <a:chOff x="0" y="0"/>
            <a:chExt cx="2540000" cy="7239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40000" cy="723900"/>
            </a:xfrm>
            <a:custGeom>
              <a:avLst/>
              <a:gdLst/>
              <a:ahLst/>
              <a:cxnLst/>
              <a:rect r="r" b="b" t="t" l="l"/>
              <a:pathLst>
                <a:path h="723900" w="2540000">
                  <a:moveTo>
                    <a:pt x="2178050" y="0"/>
                  </a:moveTo>
                  <a:cubicBezTo>
                    <a:pt x="2377949" y="0"/>
                    <a:pt x="2540000" y="162051"/>
                    <a:pt x="2540000" y="361950"/>
                  </a:cubicBezTo>
                  <a:cubicBezTo>
                    <a:pt x="2540000" y="561849"/>
                    <a:pt x="2377949" y="723900"/>
                    <a:pt x="2178050" y="723900"/>
                  </a:cubicBezTo>
                  <a:lnTo>
                    <a:pt x="361950" y="723900"/>
                  </a:lnTo>
                  <a:cubicBezTo>
                    <a:pt x="162051" y="723900"/>
                    <a:pt x="0" y="561849"/>
                    <a:pt x="0" y="361950"/>
                  </a:cubicBezTo>
                  <a:cubicBezTo>
                    <a:pt x="0" y="162051"/>
                    <a:pt x="162051" y="0"/>
                    <a:pt x="36195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540000" cy="752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9"/>
                </a:lnSpc>
                <a:spcBef>
                  <a:spcPct val="0"/>
                </a:spcBef>
              </a:pPr>
              <a:r>
                <a:rPr lang="en-US" sz="16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Implementada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600825" y="5524500"/>
            <a:ext cx="5076825" cy="3619500"/>
            <a:chOff x="0" y="0"/>
            <a:chExt cx="6769100" cy="4826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7691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6769100">
                  <a:moveTo>
                    <a:pt x="482600" y="0"/>
                  </a:moveTo>
                  <a:lnTo>
                    <a:pt x="6286500" y="0"/>
                  </a:lnTo>
                  <a:cubicBezTo>
                    <a:pt x="6553033" y="0"/>
                    <a:pt x="6769100" y="216067"/>
                    <a:pt x="6769100" y="482600"/>
                  </a:cubicBezTo>
                  <a:lnTo>
                    <a:pt x="6769100" y="4343400"/>
                  </a:lnTo>
                  <a:cubicBezTo>
                    <a:pt x="6769100" y="4609933"/>
                    <a:pt x="6553033" y="4826000"/>
                    <a:pt x="6286500" y="4826000"/>
                  </a:cubicBezTo>
                  <a:lnTo>
                    <a:pt x="482600" y="4826000"/>
                  </a:lnTo>
                  <a:cubicBezTo>
                    <a:pt x="216067" y="4826000"/>
                    <a:pt x="0" y="4609933"/>
                    <a:pt x="0" y="4343400"/>
                  </a:cubicBezTo>
                  <a:lnTo>
                    <a:pt x="0" y="482600"/>
                  </a:lnTo>
                  <a:cubicBezTo>
                    <a:pt x="0" y="216067"/>
                    <a:pt x="216067" y="0"/>
                    <a:pt x="482600" y="0"/>
                  </a:cubicBezTo>
                  <a:close/>
                </a:path>
              </a:pathLst>
            </a:custGeom>
            <a:solidFill>
              <a:srgbClr val="D8DFEA"/>
            </a:solidFill>
            <a:ln w="9525" cap="sq">
              <a:solidFill>
                <a:srgbClr val="2A3A5A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7691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591300" y="6000750"/>
            <a:ext cx="5076825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trike="noStrike" u="none">
                <a:solidFill>
                  <a:srgbClr val="3F5984"/>
                </a:solidFill>
                <a:latin typeface="Open Sauce"/>
                <a:ea typeface="Open Sauce"/>
                <a:cs typeface="Open Sauce"/>
                <a:sym typeface="Open Sauce"/>
              </a:rPr>
              <a:t>🗂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781800" y="6724650"/>
            <a:ext cx="469582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Historial</a:t>
            </a:r>
          </a:p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de atención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103595" y="8133663"/>
            <a:ext cx="2052235" cy="584887"/>
            <a:chOff x="0" y="0"/>
            <a:chExt cx="2540000" cy="7239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40000" cy="723900"/>
            </a:xfrm>
            <a:custGeom>
              <a:avLst/>
              <a:gdLst/>
              <a:ahLst/>
              <a:cxnLst/>
              <a:rect r="r" b="b" t="t" l="l"/>
              <a:pathLst>
                <a:path h="723900" w="2540000">
                  <a:moveTo>
                    <a:pt x="2178050" y="0"/>
                  </a:moveTo>
                  <a:cubicBezTo>
                    <a:pt x="2377949" y="0"/>
                    <a:pt x="2540000" y="162051"/>
                    <a:pt x="2540000" y="361950"/>
                  </a:cubicBezTo>
                  <a:cubicBezTo>
                    <a:pt x="2540000" y="561849"/>
                    <a:pt x="2377949" y="723900"/>
                    <a:pt x="2178050" y="723900"/>
                  </a:cubicBezTo>
                  <a:lnTo>
                    <a:pt x="361950" y="723900"/>
                  </a:lnTo>
                  <a:cubicBezTo>
                    <a:pt x="162051" y="723900"/>
                    <a:pt x="0" y="561849"/>
                    <a:pt x="0" y="361950"/>
                  </a:cubicBezTo>
                  <a:cubicBezTo>
                    <a:pt x="0" y="162051"/>
                    <a:pt x="162051" y="0"/>
                    <a:pt x="36195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2540000" cy="752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9"/>
                </a:lnSpc>
                <a:spcBef>
                  <a:spcPct val="0"/>
                </a:spcBef>
              </a:pPr>
              <a:r>
                <a:rPr lang="en-US" sz="16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Implementado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058650" y="5524500"/>
            <a:ext cx="5076825" cy="3619500"/>
            <a:chOff x="0" y="0"/>
            <a:chExt cx="6769100" cy="4826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7691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6769100">
                  <a:moveTo>
                    <a:pt x="482600" y="0"/>
                  </a:moveTo>
                  <a:lnTo>
                    <a:pt x="6286500" y="0"/>
                  </a:lnTo>
                  <a:cubicBezTo>
                    <a:pt x="6553033" y="0"/>
                    <a:pt x="6769100" y="216067"/>
                    <a:pt x="6769100" y="482600"/>
                  </a:cubicBezTo>
                  <a:lnTo>
                    <a:pt x="6769100" y="4343400"/>
                  </a:lnTo>
                  <a:cubicBezTo>
                    <a:pt x="6769100" y="4609933"/>
                    <a:pt x="6553033" y="4826000"/>
                    <a:pt x="6286500" y="4826000"/>
                  </a:cubicBezTo>
                  <a:lnTo>
                    <a:pt x="482600" y="4826000"/>
                  </a:lnTo>
                  <a:cubicBezTo>
                    <a:pt x="216067" y="4826000"/>
                    <a:pt x="0" y="4609933"/>
                    <a:pt x="0" y="4343400"/>
                  </a:cubicBezTo>
                  <a:lnTo>
                    <a:pt x="0" y="482600"/>
                  </a:lnTo>
                  <a:cubicBezTo>
                    <a:pt x="0" y="216067"/>
                    <a:pt x="216067" y="0"/>
                    <a:pt x="482600" y="0"/>
                  </a:cubicBezTo>
                  <a:close/>
                </a:path>
              </a:pathLst>
            </a:custGeom>
            <a:solidFill>
              <a:srgbClr val="D8DFEA"/>
            </a:solidFill>
            <a:ln w="9525" cap="sq">
              <a:solidFill>
                <a:srgbClr val="2A3A5A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67691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049125" y="6000750"/>
            <a:ext cx="5076825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trike="noStrike" u="none">
                <a:solidFill>
                  <a:srgbClr val="3F5984"/>
                </a:solidFill>
                <a:latin typeface="Open Sauce"/>
                <a:ea typeface="Open Sauce"/>
                <a:cs typeface="Open Sauce"/>
                <a:sym typeface="Open Sauce"/>
              </a:rPr>
              <a:t>🔐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239625" y="6724650"/>
            <a:ext cx="469582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Usuarios</a:t>
            </a:r>
          </a:p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y roles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3561420" y="8133663"/>
            <a:ext cx="2052235" cy="584887"/>
            <a:chOff x="0" y="0"/>
            <a:chExt cx="2540000" cy="7239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540000" cy="723900"/>
            </a:xfrm>
            <a:custGeom>
              <a:avLst/>
              <a:gdLst/>
              <a:ahLst/>
              <a:cxnLst/>
              <a:rect r="r" b="b" t="t" l="l"/>
              <a:pathLst>
                <a:path h="723900" w="2540000">
                  <a:moveTo>
                    <a:pt x="2178050" y="0"/>
                  </a:moveTo>
                  <a:cubicBezTo>
                    <a:pt x="2377949" y="0"/>
                    <a:pt x="2540000" y="162051"/>
                    <a:pt x="2540000" y="361950"/>
                  </a:cubicBezTo>
                  <a:cubicBezTo>
                    <a:pt x="2540000" y="561849"/>
                    <a:pt x="2377949" y="723900"/>
                    <a:pt x="2178050" y="723900"/>
                  </a:cubicBezTo>
                  <a:lnTo>
                    <a:pt x="361950" y="723900"/>
                  </a:lnTo>
                  <a:cubicBezTo>
                    <a:pt x="162051" y="723900"/>
                    <a:pt x="0" y="561849"/>
                    <a:pt x="0" y="361950"/>
                  </a:cubicBezTo>
                  <a:cubicBezTo>
                    <a:pt x="0" y="162051"/>
                    <a:pt x="162051" y="0"/>
                    <a:pt x="36195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2540000" cy="752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9"/>
                </a:lnSpc>
                <a:spcBef>
                  <a:spcPct val="0"/>
                </a:spcBef>
              </a:pPr>
              <a:r>
                <a:rPr lang="en-US" sz="16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Implementado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3704204" y="152400"/>
            <a:ext cx="4393296" cy="1098324"/>
          </a:xfrm>
          <a:custGeom>
            <a:avLst/>
            <a:gdLst/>
            <a:ahLst/>
            <a:cxnLst/>
            <a:rect r="r" b="b" t="t" l="l"/>
            <a:pathLst>
              <a:path h="1098324" w="4393296">
                <a:moveTo>
                  <a:pt x="0" y="0"/>
                </a:moveTo>
                <a:lnTo>
                  <a:pt x="4393296" y="0"/>
                </a:lnTo>
                <a:lnTo>
                  <a:pt x="4393296" y="1098324"/>
                </a:lnTo>
                <a:lnTo>
                  <a:pt x="0" y="1098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9065" y="2097809"/>
            <a:ext cx="15129869" cy="7987694"/>
          </a:xfrm>
          <a:custGeom>
            <a:avLst/>
            <a:gdLst/>
            <a:ahLst/>
            <a:cxnLst/>
            <a:rect r="r" b="b" t="t" l="l"/>
            <a:pathLst>
              <a:path h="7987694" w="15129869">
                <a:moveTo>
                  <a:pt x="0" y="0"/>
                </a:moveTo>
                <a:lnTo>
                  <a:pt x="15129870" y="0"/>
                </a:lnTo>
                <a:lnTo>
                  <a:pt x="15129870" y="7987694"/>
                </a:lnTo>
                <a:lnTo>
                  <a:pt x="0" y="7987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276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35254" y="750339"/>
            <a:ext cx="9017491" cy="134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59"/>
              </a:lnSpc>
            </a:pPr>
            <a:r>
              <a:rPr lang="en-US" sz="5199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Ob</a:t>
            </a:r>
            <a:r>
              <a:rPr lang="en-US" sz="5199" strike="noStrike" u="none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s</a:t>
            </a:r>
            <a:r>
              <a:rPr lang="en-US" sz="5199" strike="noStrike" u="none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tác</a:t>
            </a:r>
            <a:r>
              <a:rPr lang="en-US" sz="5199" strike="noStrike" u="none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ul</a:t>
            </a:r>
            <a:r>
              <a:rPr lang="en-US" sz="5199" strike="noStrike" u="none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os presen</a:t>
            </a:r>
            <a:r>
              <a:rPr lang="en-US" sz="5199" strike="noStrike" u="none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tados</a:t>
            </a:r>
            <a:r>
              <a:rPr lang="en-US" sz="5199" strike="noStrike" u="none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</a:p>
          <a:p>
            <a:pPr algn="ctr" marL="0" indent="0" lvl="0">
              <a:lnSpc>
                <a:spcPts val="4030"/>
              </a:lnSpc>
            </a:pPr>
            <a:r>
              <a:rPr lang="en-US" sz="3100" strike="noStrike" u="none">
                <a:solidFill>
                  <a:srgbClr val="96AFE6"/>
                </a:solidFill>
                <a:latin typeface="Merriweather"/>
                <a:ea typeface="Merriweather"/>
                <a:cs typeface="Merriweather"/>
                <a:sym typeface="Merriweather"/>
              </a:rPr>
              <a:t>Durante el desarrollo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704204" y="152400"/>
            <a:ext cx="4393296" cy="1098324"/>
          </a:xfrm>
          <a:custGeom>
            <a:avLst/>
            <a:gdLst/>
            <a:ahLst/>
            <a:cxnLst/>
            <a:rect r="r" b="b" t="t" l="l"/>
            <a:pathLst>
              <a:path h="1098324" w="4393296">
                <a:moveTo>
                  <a:pt x="0" y="0"/>
                </a:moveTo>
                <a:lnTo>
                  <a:pt x="4393296" y="0"/>
                </a:lnTo>
                <a:lnTo>
                  <a:pt x="4393296" y="1098324"/>
                </a:lnTo>
                <a:lnTo>
                  <a:pt x="0" y="1098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57750" y="876935"/>
            <a:ext cx="8572500" cy="73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19"/>
              </a:lnSpc>
              <a:spcBef>
                <a:spcPct val="0"/>
              </a:spcBef>
            </a:pPr>
            <a:r>
              <a:rPr lang="en-US" sz="5199" strike="noStrike" u="none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Beneficios obtenidos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43000" y="2371725"/>
            <a:ext cx="5076825" cy="5905500"/>
            <a:chOff x="0" y="0"/>
            <a:chExt cx="6769100" cy="787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691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6769100">
                  <a:moveTo>
                    <a:pt x="676910" y="0"/>
                  </a:moveTo>
                  <a:lnTo>
                    <a:pt x="6092190" y="0"/>
                  </a:lnTo>
                  <a:cubicBezTo>
                    <a:pt x="6466037" y="0"/>
                    <a:pt x="6769100" y="303063"/>
                    <a:pt x="6769100" y="676910"/>
                  </a:cubicBezTo>
                  <a:lnTo>
                    <a:pt x="6769100" y="7197090"/>
                  </a:lnTo>
                  <a:cubicBezTo>
                    <a:pt x="6769100" y="7570937"/>
                    <a:pt x="6466037" y="7874000"/>
                    <a:pt x="6092190" y="7874000"/>
                  </a:cubicBezTo>
                  <a:lnTo>
                    <a:pt x="676910" y="7874000"/>
                  </a:lnTo>
                  <a:cubicBezTo>
                    <a:pt x="303063" y="7874000"/>
                    <a:pt x="0" y="7570937"/>
                    <a:pt x="0" y="7197090"/>
                  </a:cubicBezTo>
                  <a:lnTo>
                    <a:pt x="0" y="676910"/>
                  </a:lnTo>
                  <a:cubicBezTo>
                    <a:pt x="0" y="303063"/>
                    <a:pt x="303063" y="0"/>
                    <a:pt x="676910" y="0"/>
                  </a:cubicBezTo>
                  <a:close/>
                </a:path>
              </a:pathLst>
            </a:custGeom>
            <a:solidFill>
              <a:srgbClr val="D8DFEA"/>
            </a:solidFill>
            <a:ln w="9525" cap="sq">
              <a:solidFill>
                <a:srgbClr val="2A3A5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691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43000" y="2371725"/>
            <a:ext cx="5076825" cy="57150"/>
            <a:chOff x="0" y="0"/>
            <a:chExt cx="6769100" cy="76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69100" cy="76200"/>
            </a:xfrm>
            <a:custGeom>
              <a:avLst/>
              <a:gdLst/>
              <a:ahLst/>
              <a:cxnLst/>
              <a:rect r="r" b="b" t="t" l="l"/>
              <a:pathLst>
                <a:path h="76200" w="6769100">
                  <a:moveTo>
                    <a:pt x="0" y="0"/>
                  </a:moveTo>
                  <a:lnTo>
                    <a:pt x="6769100" y="0"/>
                  </a:lnTo>
                  <a:lnTo>
                    <a:pt x="67691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7691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295650" y="2752725"/>
            <a:ext cx="762000" cy="857250"/>
            <a:chOff x="0" y="0"/>
            <a:chExt cx="1016000" cy="1143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6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16000">
                  <a:moveTo>
                    <a:pt x="508000" y="0"/>
                  </a:moveTo>
                  <a:cubicBezTo>
                    <a:pt x="227439" y="0"/>
                    <a:pt x="0" y="255869"/>
                    <a:pt x="0" y="571500"/>
                  </a:cubicBezTo>
                  <a:cubicBezTo>
                    <a:pt x="0" y="887131"/>
                    <a:pt x="227439" y="1143000"/>
                    <a:pt x="508000" y="1143000"/>
                  </a:cubicBezTo>
                  <a:cubicBezTo>
                    <a:pt x="788561" y="1143000"/>
                    <a:pt x="1016000" y="887131"/>
                    <a:pt x="1016000" y="571500"/>
                  </a:cubicBezTo>
                  <a:cubicBezTo>
                    <a:pt x="1016000" y="25586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16000" cy="1209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sz="3600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🏠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23975" y="3758882"/>
            <a:ext cx="4695825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3F598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Para los residentes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524000" y="4371975"/>
            <a:ext cx="4314825" cy="0"/>
          </a:xfrm>
          <a:prstGeom prst="line">
            <a:avLst/>
          </a:prstGeom>
          <a:ln cap="flat" w="9525">
            <a:solidFill>
              <a:srgbClr val="96AF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524000" y="4685347"/>
            <a:ext cx="4314825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✔  Atención más rápida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4000" y="5447347"/>
            <a:ext cx="4314825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✔  Menor tiempo de espera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24000" y="6209347"/>
            <a:ext cx="4314825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✔  Mejor seguimiento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600825" y="2371725"/>
            <a:ext cx="5076825" cy="5905500"/>
            <a:chOff x="0" y="0"/>
            <a:chExt cx="6769100" cy="787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691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6769100">
                  <a:moveTo>
                    <a:pt x="676910" y="0"/>
                  </a:moveTo>
                  <a:lnTo>
                    <a:pt x="6092190" y="0"/>
                  </a:lnTo>
                  <a:cubicBezTo>
                    <a:pt x="6466037" y="0"/>
                    <a:pt x="6769100" y="303063"/>
                    <a:pt x="6769100" y="676910"/>
                  </a:cubicBezTo>
                  <a:lnTo>
                    <a:pt x="6769100" y="7197090"/>
                  </a:lnTo>
                  <a:cubicBezTo>
                    <a:pt x="6769100" y="7570937"/>
                    <a:pt x="6466037" y="7874000"/>
                    <a:pt x="6092190" y="7874000"/>
                  </a:cubicBezTo>
                  <a:lnTo>
                    <a:pt x="676910" y="7874000"/>
                  </a:lnTo>
                  <a:cubicBezTo>
                    <a:pt x="303063" y="7874000"/>
                    <a:pt x="0" y="7570937"/>
                    <a:pt x="0" y="7197090"/>
                  </a:cubicBezTo>
                  <a:lnTo>
                    <a:pt x="0" y="676910"/>
                  </a:lnTo>
                  <a:cubicBezTo>
                    <a:pt x="0" y="303063"/>
                    <a:pt x="303063" y="0"/>
                    <a:pt x="676910" y="0"/>
                  </a:cubicBezTo>
                  <a:close/>
                </a:path>
              </a:pathLst>
            </a:custGeom>
            <a:solidFill>
              <a:srgbClr val="D8DFEA"/>
            </a:solidFill>
            <a:ln w="9525" cap="sq">
              <a:solidFill>
                <a:srgbClr val="2A3A5A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7691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00825" y="2371725"/>
            <a:ext cx="5076825" cy="57150"/>
            <a:chOff x="0" y="0"/>
            <a:chExt cx="6769100" cy="76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69100" cy="76200"/>
            </a:xfrm>
            <a:custGeom>
              <a:avLst/>
              <a:gdLst/>
              <a:ahLst/>
              <a:cxnLst/>
              <a:rect r="r" b="b" t="t" l="l"/>
              <a:pathLst>
                <a:path h="76200" w="6769100">
                  <a:moveTo>
                    <a:pt x="0" y="0"/>
                  </a:moveTo>
                  <a:lnTo>
                    <a:pt x="6769100" y="0"/>
                  </a:lnTo>
                  <a:lnTo>
                    <a:pt x="67691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7691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753475" y="2752725"/>
            <a:ext cx="762000" cy="857250"/>
            <a:chOff x="0" y="0"/>
            <a:chExt cx="1016000" cy="1143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6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16000">
                  <a:moveTo>
                    <a:pt x="508000" y="0"/>
                  </a:moveTo>
                  <a:cubicBezTo>
                    <a:pt x="227439" y="0"/>
                    <a:pt x="0" y="255869"/>
                    <a:pt x="0" y="571500"/>
                  </a:cubicBezTo>
                  <a:cubicBezTo>
                    <a:pt x="0" y="887131"/>
                    <a:pt x="227439" y="1143000"/>
                    <a:pt x="508000" y="1143000"/>
                  </a:cubicBezTo>
                  <a:cubicBezTo>
                    <a:pt x="788561" y="1143000"/>
                    <a:pt x="1016000" y="887131"/>
                    <a:pt x="1016000" y="571500"/>
                  </a:cubicBezTo>
                  <a:cubicBezTo>
                    <a:pt x="1016000" y="25586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016000" cy="1209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sz="3600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👨‍⚕️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781800" y="3758882"/>
            <a:ext cx="4695825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3F598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Para el personal</a:t>
            </a:r>
          </a:p>
        </p:txBody>
      </p:sp>
      <p:sp>
        <p:nvSpPr>
          <p:cNvPr name="AutoShape 27" id="27"/>
          <p:cNvSpPr/>
          <p:nvPr/>
        </p:nvSpPr>
        <p:spPr>
          <a:xfrm>
            <a:off x="6981825" y="4371975"/>
            <a:ext cx="4314825" cy="0"/>
          </a:xfrm>
          <a:prstGeom prst="line">
            <a:avLst/>
          </a:prstGeom>
          <a:ln cap="flat" w="9525">
            <a:solidFill>
              <a:srgbClr val="96AF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6981825" y="4685347"/>
            <a:ext cx="4314825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✔  Organización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81825" y="5447347"/>
            <a:ext cx="4314825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✔  Menor carga administrativa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981825" y="6209347"/>
            <a:ext cx="4314825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✔  Registro automático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058650" y="2371725"/>
            <a:ext cx="5076825" cy="5905500"/>
            <a:chOff x="0" y="0"/>
            <a:chExt cx="6769100" cy="7874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7691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6769100">
                  <a:moveTo>
                    <a:pt x="676910" y="0"/>
                  </a:moveTo>
                  <a:lnTo>
                    <a:pt x="6092190" y="0"/>
                  </a:lnTo>
                  <a:cubicBezTo>
                    <a:pt x="6466037" y="0"/>
                    <a:pt x="6769100" y="303063"/>
                    <a:pt x="6769100" y="676910"/>
                  </a:cubicBezTo>
                  <a:lnTo>
                    <a:pt x="6769100" y="7197090"/>
                  </a:lnTo>
                  <a:cubicBezTo>
                    <a:pt x="6769100" y="7570937"/>
                    <a:pt x="6466037" y="7874000"/>
                    <a:pt x="6092190" y="7874000"/>
                  </a:cubicBezTo>
                  <a:lnTo>
                    <a:pt x="676910" y="7874000"/>
                  </a:lnTo>
                  <a:cubicBezTo>
                    <a:pt x="303063" y="7874000"/>
                    <a:pt x="0" y="7570937"/>
                    <a:pt x="0" y="7197090"/>
                  </a:cubicBezTo>
                  <a:lnTo>
                    <a:pt x="0" y="676910"/>
                  </a:lnTo>
                  <a:cubicBezTo>
                    <a:pt x="0" y="303063"/>
                    <a:pt x="303063" y="0"/>
                    <a:pt x="676910" y="0"/>
                  </a:cubicBezTo>
                  <a:close/>
                </a:path>
              </a:pathLst>
            </a:custGeom>
            <a:solidFill>
              <a:srgbClr val="D8DFEA"/>
            </a:solidFill>
            <a:ln w="9525" cap="sq">
              <a:solidFill>
                <a:srgbClr val="2A3A5A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7691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058650" y="2371725"/>
            <a:ext cx="5076825" cy="57150"/>
            <a:chOff x="0" y="0"/>
            <a:chExt cx="6769100" cy="76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769100" cy="76200"/>
            </a:xfrm>
            <a:custGeom>
              <a:avLst/>
              <a:gdLst/>
              <a:ahLst/>
              <a:cxnLst/>
              <a:rect r="r" b="b" t="t" l="l"/>
              <a:pathLst>
                <a:path h="76200" w="6769100">
                  <a:moveTo>
                    <a:pt x="0" y="0"/>
                  </a:moveTo>
                  <a:lnTo>
                    <a:pt x="6769100" y="0"/>
                  </a:lnTo>
                  <a:lnTo>
                    <a:pt x="67691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7691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211300" y="2752725"/>
            <a:ext cx="762000" cy="857250"/>
            <a:chOff x="0" y="0"/>
            <a:chExt cx="1016000" cy="1143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16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16000">
                  <a:moveTo>
                    <a:pt x="508000" y="0"/>
                  </a:moveTo>
                  <a:cubicBezTo>
                    <a:pt x="227439" y="0"/>
                    <a:pt x="0" y="255869"/>
                    <a:pt x="0" y="571500"/>
                  </a:cubicBezTo>
                  <a:cubicBezTo>
                    <a:pt x="0" y="887131"/>
                    <a:pt x="227439" y="1143000"/>
                    <a:pt x="508000" y="1143000"/>
                  </a:cubicBezTo>
                  <a:cubicBezTo>
                    <a:pt x="788561" y="1143000"/>
                    <a:pt x="1016000" y="887131"/>
                    <a:pt x="1016000" y="571500"/>
                  </a:cubicBezTo>
                  <a:cubicBezTo>
                    <a:pt x="1016000" y="25586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3F5984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1016000" cy="1209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sz="3600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📊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2239625" y="3758882"/>
            <a:ext cx="4695825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3F598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Para la administración</a:t>
            </a:r>
          </a:p>
        </p:txBody>
      </p:sp>
      <p:sp>
        <p:nvSpPr>
          <p:cNvPr name="AutoShape 41" id="41"/>
          <p:cNvSpPr/>
          <p:nvPr/>
        </p:nvSpPr>
        <p:spPr>
          <a:xfrm>
            <a:off x="12439650" y="4371975"/>
            <a:ext cx="4314825" cy="0"/>
          </a:xfrm>
          <a:prstGeom prst="line">
            <a:avLst/>
          </a:prstGeom>
          <a:ln cap="flat" w="9525">
            <a:solidFill>
              <a:srgbClr val="96AF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12439650" y="4685347"/>
            <a:ext cx="4314825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✔  Historial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439650" y="5447347"/>
            <a:ext cx="4314825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✔  Indicadores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439650" y="6209347"/>
            <a:ext cx="4314825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02039"/>
                </a:solidFill>
                <a:latin typeface="Open Sauce"/>
                <a:ea typeface="Open Sauce"/>
                <a:cs typeface="Open Sauce"/>
                <a:sym typeface="Open Sauce"/>
              </a:rPr>
              <a:t>✔  Reportes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3704204" y="152400"/>
            <a:ext cx="4393296" cy="1098324"/>
          </a:xfrm>
          <a:custGeom>
            <a:avLst/>
            <a:gdLst/>
            <a:ahLst/>
            <a:cxnLst/>
            <a:rect r="r" b="b" t="t" l="l"/>
            <a:pathLst>
              <a:path h="1098324" w="4393296">
                <a:moveTo>
                  <a:pt x="0" y="0"/>
                </a:moveTo>
                <a:lnTo>
                  <a:pt x="4393296" y="0"/>
                </a:lnTo>
                <a:lnTo>
                  <a:pt x="4393296" y="1098324"/>
                </a:lnTo>
                <a:lnTo>
                  <a:pt x="0" y="1098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04204" y="152400"/>
            <a:ext cx="4393296" cy="1098324"/>
          </a:xfrm>
          <a:custGeom>
            <a:avLst/>
            <a:gdLst/>
            <a:ahLst/>
            <a:cxnLst/>
            <a:rect r="r" b="b" t="t" l="l"/>
            <a:pathLst>
              <a:path h="1098324" w="4393296">
                <a:moveTo>
                  <a:pt x="0" y="0"/>
                </a:moveTo>
                <a:lnTo>
                  <a:pt x="4393296" y="0"/>
                </a:lnTo>
                <a:lnTo>
                  <a:pt x="4393296" y="1098324"/>
                </a:lnTo>
                <a:lnTo>
                  <a:pt x="0" y="1098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10250" y="4443730"/>
            <a:ext cx="6667500" cy="145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19"/>
              </a:lnSpc>
              <a:spcBef>
                <a:spcPct val="0"/>
              </a:spcBef>
            </a:pPr>
            <a:r>
              <a:rPr lang="en-US" sz="5199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Presentación de la Aplicación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572500" y="2139315"/>
            <a:ext cx="1143000" cy="0"/>
          </a:xfrm>
          <a:prstGeom prst="line">
            <a:avLst/>
          </a:prstGeom>
          <a:ln cap="flat" w="38100">
            <a:solidFill>
              <a:srgbClr val="0097B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7818270" y="4420245"/>
            <a:ext cx="2651460" cy="5246370"/>
            <a:chOff x="0" y="0"/>
            <a:chExt cx="2620010" cy="51841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2521" t="0" r="-5624" b="-235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429000" y="1085850"/>
            <a:ext cx="11430000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7200" strike="noStrike" u="none">
                <a:solidFill>
                  <a:srgbClr val="3F5984"/>
                </a:solidFill>
                <a:latin typeface="Merriweather"/>
                <a:ea typeface="Merriweather"/>
                <a:cs typeface="Merriweather"/>
                <a:sym typeface="Merriweather"/>
              </a:rPr>
              <a:t>Muchas gracias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86500" y="2970540"/>
            <a:ext cx="5715000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80"/>
              </a:lnSpc>
              <a:spcBef>
                <a:spcPct val="0"/>
              </a:spcBef>
            </a:pPr>
            <a:r>
              <a:rPr lang="en-US" sz="3600" strike="noStrike" u="none">
                <a:solidFill>
                  <a:srgbClr val="5A6A7A"/>
                </a:solidFill>
                <a:latin typeface="Open Sauce"/>
                <a:ea typeface="Open Sauce"/>
                <a:cs typeface="Open Sauce"/>
                <a:sym typeface="Open Sauce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DAHOiI3Vhi0</dc:identifier>
  <dcterms:modified xsi:type="dcterms:W3CDTF">2011-08-01T06:04:30Z</dcterms:modified>
  <cp:revision>1</cp:revision>
  <dc:title>Presentación capstone</dc:title>
</cp:coreProperties>
</file>